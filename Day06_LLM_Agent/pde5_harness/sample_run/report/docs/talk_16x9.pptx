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12분 발표. 결론을 3번 슬라이드에서 먼저 말하고, 나머지는 그 근거를 쌓는 구성입니다.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표적 구조는 대개 holo 입니다. 그 리간드를 닮은 화합물은 점수도 좋고 실제로도 강력합니다. 두 경로가 같은 방향이라 상관은 나오는데, 그게 채점 능력인지 골격 닮음인지 구분이 안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결론을 먼저 말합니다. 뒤는 전부 이 숫자를 어떻게 얻었고 무엇을 배제했는지입니다.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ChEMBL 전수를 받아 화합물당 중앙값으로 집계하고, 역가 3구간과 실데나필 Tanimoto 3구간의 격자에서 균등 추출했습니다. 교란 상관이 0.281에서 0.175로 떨어집니다.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C1은 상위 모드 중 최선, C2는 점수 1위 자세입니다. 합쳐서 하나로 보고하면 탐색 실패인지 채점 실패인지 알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깊이 4에서 128까지. C1은 통과율 0에서 100%로 고쳐지는데 C2는 전 구간 0%이고 최고 점수는 아예 변하지 않습니다. 탐색은 얕은 깊이에서 이미 전역 최소를 찾았고 그 최소가 틀린 자리에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수용체는 pH 7.4인데 리간드는 중성이라는 비대칭이 있었습니다. 맞춰도 점수가 그대로입니다. 이유는 기본 Vina 함수에 정전기 항이 없기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초안은 골격 교란 때문이라고 적었는데, 옛 데이터에 같은 통제를 적용하니 1.2%만 줄었습니다. 설계 재현도, 프로토콜 재도킹도 원인이 아니었습니다. 남은 것은 화합물 집합 자체입니다.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골격과 크기를 각각·동시에 통제했습니다. far와 mid 대역은 0 근처이고 near만 유의합니다.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near 대역만 유의하고 보정 후에도 살아남습니다. 그런데 그 대역의 약함 칸이 전수라 민감도 분석이 안 되고, AUC 신뢰구간이 기준 0.7을 포함합니다. 가설로만 남깁니다.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이게 이 연구에서 가장 큰 제약입니다. 신호 없음이라는 진술이 대부분 틀린 자세에 매긴 점수에 대한 것이라는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실무 지침 셋으로 마무리합니다.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대비: (1) 왜 PDE5A 인가 — 결정 구조와 활성 데이터가 모두 풍부해서. (2) 다른 표적에서도 같은가 — 검정하지 않았고 그것이 가장 큰 한계. (3) 물을 넣으면 달라지나 — 배제하지 못한 후보이며 다음 실험.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4000" y="1872000"/>
            <a:ext cx="10465200" cy="108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</a:rPr>
              <a:t>골격 유사성과 역가를 직교화한
PDE5A 도킹 재평가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3600000"/>
            <a:ext cx="10465200" cy="432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9FC5E0"/>
                </a:solidFill>
                <a:latin typeface="Pretendard"/>
              </a:rPr>
              <a:t>선행 상관의 재현 실패, 그리고 자세 타당도가 정하는 해석의 상한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4752000"/>
            <a:ext cx="10465200" cy="72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FC5E0"/>
                </a:solidFill>
                <a:latin typeface="Pretendard"/>
              </a:rPr>
              <a:t>smina / AutoDock Vina 1.1.2  ·  PDB 1UDT  ·  ChEMBL PDE5A  n = 163</a:t>
            </a:r>
          </a:p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>전 산출물·코드·리뷰 기록 공개 — github.com/fourmodern/2026_aidrugdiscovery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216000"/>
            <a:ext cx="4320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72B2"/>
                </a:solidFill>
                <a:latin typeface="Pretendard"/>
              </a:rPr>
              <a:t>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432000"/>
            <a:ext cx="11185200" cy="57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B2A4A"/>
                </a:solidFill>
                <a:latin typeface="Pretendard"/>
              </a:rPr>
              <a:t>도킹 벤치마크는 두 가지를 동시에 재고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57200" y="6462000"/>
            <a:ext cx="576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A636B"/>
                </a:solidFill>
                <a:latin typeface="Pretendard"/>
              </a:rPr>
              <a:t>2</a:t>
            </a:r>
          </a:p>
        </p:txBody>
      </p:sp>
      <p:pic>
        <p:nvPicPr>
          <p:cNvPr id="6" name="Picture 5" descr="fig01_graphical_abs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296000"/>
            <a:ext cx="11329200" cy="41092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216000"/>
            <a:ext cx="4320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72B2"/>
                </a:solidFill>
                <a:latin typeface="Pretendard"/>
              </a:rPr>
              <a:t>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432000"/>
            <a:ext cx="11185200" cy="57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B2A4A"/>
                </a:solidFill>
                <a:latin typeface="Pretendard"/>
              </a:rPr>
              <a:t>결론부터 — 골격을 분리하니 상관이 사라졌다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57200" y="6462000"/>
            <a:ext cx="576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A636B"/>
                </a:solidFill>
                <a:latin typeface="Pretendard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656000"/>
            <a:ext cx="10753200" cy="1656000"/>
          </a:xfrm>
          <a:prstGeom prst="roundRect">
            <a:avLst/>
          </a:prstGeom>
          <a:solidFill>
            <a:srgbClr val="FDF0E6"/>
          </a:solidFill>
          <a:ln w="2540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6000" y="1980000"/>
            <a:ext cx="10321200" cy="504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D55E00"/>
                </a:solidFill>
                <a:latin typeface="Pretendard"/>
              </a:rPr>
              <a:t>ρ = -0.079    (95% CI -0.23 ~ +0.08,   p = 0.31878)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2664000"/>
            <a:ext cx="10321200" cy="432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1A1A1A"/>
                </a:solidFill>
                <a:latin typeface="Pretendard"/>
              </a:rPr>
              <a:t>n = 30 에서 얻었던 ρ = -0.538 는 재현되지 않았다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4032000"/>
            <a:ext cx="3584400" cy="792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000" b="1">
                <a:solidFill>
                  <a:srgbClr val="D55E00"/>
                </a:solidFill>
                <a:latin typeface="Pretendard"/>
              </a:rPr>
              <a:t>-0.018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4752000"/>
            <a:ext cx="3584400" cy="36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6B"/>
                </a:solidFill>
                <a:latin typeface="Pretendard"/>
              </a:rPr>
              <a:t>교차검증 Q²  (기준 0.3)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4400" y="4032000"/>
            <a:ext cx="3584400" cy="792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000" b="1">
                <a:solidFill>
                  <a:srgbClr val="D55E00"/>
                </a:solidFill>
                <a:latin typeface="Pretendard"/>
              </a:rPr>
              <a:t>0.574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4400" y="4752000"/>
            <a:ext cx="3584400" cy="36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6B"/>
                </a:solidFill>
                <a:latin typeface="Pretendard"/>
              </a:rPr>
              <a:t>ROC-AUC 전체  (기준 0.7)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8800" y="4032000"/>
            <a:ext cx="3584400" cy="792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000" b="1">
                <a:solidFill>
                  <a:srgbClr val="D55E00"/>
                </a:solidFill>
                <a:latin typeface="Pretendard"/>
              </a:rPr>
              <a:t>81%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8800" y="4752000"/>
            <a:ext cx="3584400" cy="36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6B"/>
                </a:solidFill>
                <a:latin typeface="Pretendard"/>
              </a:rPr>
              <a:t>자세가 2 Å 기준 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216000"/>
            <a:ext cx="4320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72B2"/>
                </a:solidFill>
                <a:latin typeface="Pretendard"/>
              </a:rPr>
              <a:t>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432000"/>
            <a:ext cx="11185200" cy="57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B2A4A"/>
                </a:solidFill>
                <a:latin typeface="Pretendard"/>
              </a:rPr>
              <a:t>역가와 골격 유사도를 9칸 격자로 직교화했다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57200" y="6462000"/>
            <a:ext cx="576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A636B"/>
                </a:solidFill>
                <a:latin typeface="Pretendard"/>
              </a:rPr>
              <a:t>4</a:t>
            </a:r>
          </a:p>
        </p:txBody>
      </p:sp>
      <p:pic>
        <p:nvPicPr>
          <p:cNvPr id="6" name="Picture 5" descr="fig02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59" y="1440000"/>
            <a:ext cx="10124082" cy="316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0000" y="4896000"/>
            <a:ext cx="10753200" cy="648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Pretendard"/>
              </a:rPr>
              <a:t>ChEMBL PDE5A 활성 2538 레코드 전수 → 화합물당 중앙값 (2158종) → 9칸 격자 균등 추출 n = 163</a:t>
            </a:r>
          </a:p>
          <a:p>
            <a:pPr algn="ctr">
              <a:spcAft>
                <a:spcPts val="300"/>
              </a:spcAft>
            </a:pPr>
            <a:r>
              <a:rPr sz="1600" b="1">
                <a:solidFill>
                  <a:srgbClr val="009E73"/>
                </a:solidFill>
                <a:latin typeface="Pretendard"/>
              </a:rPr>
              <a:t>교란 상관 Pearson +0.175  (역가로만 층화한 옛 설계 +0.281)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216000"/>
            <a:ext cx="4320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72B2"/>
                </a:solidFill>
                <a:latin typeface="Pretendard"/>
              </a:rPr>
              <a:t>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432000"/>
            <a:ext cx="11185200" cy="57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B2A4A"/>
                </a:solidFill>
                <a:latin typeface="Pretendard"/>
              </a:rPr>
              <a:t>재도킹 대조는 하나가 아니라 둘로 쪼개야 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57200" y="6462000"/>
            <a:ext cx="576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A636B"/>
                </a:solidFill>
                <a:latin typeface="Pretendard"/>
              </a:rPr>
              <a:t>5</a:t>
            </a:r>
          </a:p>
        </p:txBody>
      </p:sp>
      <p:pic>
        <p:nvPicPr>
          <p:cNvPr id="6" name="Picture 5" descr="fig03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278" y="1368000"/>
            <a:ext cx="6910643" cy="3384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160000" y="4968000"/>
            <a:ext cx="3600000" cy="792000"/>
          </a:xfrm>
          <a:prstGeom prst="round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6000" y="5112000"/>
            <a:ext cx="3168000" cy="504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Pretendard"/>
              </a:rPr>
              <a:t>C1  샘플링   1.08 Å  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0000" y="4968000"/>
            <a:ext cx="3600000" cy="792000"/>
          </a:xfrm>
          <a:prstGeom prst="round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000" y="5112000"/>
            <a:ext cx="3168000" cy="504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Pretendard"/>
              </a:rPr>
              <a:t>C2  채점   8.37 Å   FAIL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216000"/>
            <a:ext cx="4320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72B2"/>
                </a:solidFill>
                <a:latin typeface="Pretendard"/>
              </a:rPr>
              <a:t>원인 배제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432000"/>
            <a:ext cx="11185200" cy="57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B2A4A"/>
                </a:solidFill>
                <a:latin typeface="Pretendard"/>
              </a:rPr>
              <a:t>탐색을 32배 늘려도 채점은 미동도 없었다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57200" y="6462000"/>
            <a:ext cx="576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A636B"/>
                </a:solidFill>
                <a:latin typeface="Pretendard"/>
              </a:rPr>
              <a:t>6</a:t>
            </a:r>
          </a:p>
        </p:txBody>
      </p:sp>
      <p:pic>
        <p:nvPicPr>
          <p:cNvPr id="6" name="Picture 5" descr="fig08_exhaustive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68" y="1368000"/>
            <a:ext cx="10221664" cy="374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0000" y="5328000"/>
            <a:ext cx="10753200" cy="432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9E73"/>
                </a:solidFill>
                <a:latin typeface="Pretendard"/>
              </a:rPr>
              <a:t>C1 통과율 0% → 100%</a:t>
            </a:r>
            <a:r>
              <a:rPr sz="1700" b="0">
                <a:solidFill>
                  <a:srgbClr val="1A1A1A"/>
                </a:solidFill>
                <a:latin typeface="Pretendard"/>
              </a:rPr>
              <a:t>      </a:t>
            </a:r>
            <a:r>
              <a:rPr sz="1700" b="1">
                <a:solidFill>
                  <a:srgbClr val="D55E00"/>
                </a:solidFill>
                <a:latin typeface="Pretendard"/>
              </a:rPr>
              <a:t>C2 전 구간 0%, 변동 0.025 Å</a:t>
            </a:r>
            <a:r>
              <a:rPr sz="1700" b="0">
                <a:solidFill>
                  <a:srgbClr val="1A1A1A"/>
                </a:solidFill>
                <a:latin typeface="Pretendard"/>
              </a:rPr>
              <a:t>      </a:t>
            </a:r>
            <a:r>
              <a:rPr sz="1700" b="1">
                <a:solidFill>
                  <a:srgbClr val="D55E00"/>
                </a:solidFill>
                <a:latin typeface="Pretendard"/>
              </a:rPr>
              <a:t>최고 점수 변동 0.0 kcal/mol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216000"/>
            <a:ext cx="4320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72B2"/>
                </a:solidFill>
                <a:latin typeface="Pretendard"/>
              </a:rPr>
              <a:t>원인 배제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432000"/>
            <a:ext cx="11185200" cy="57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B2A4A"/>
                </a:solidFill>
                <a:latin typeface="Pretendard"/>
              </a:rPr>
              <a:t>프로토네이션도 원인이 아니었다 — 그리고 그럴 수 없었다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57200" y="6462000"/>
            <a:ext cx="576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A636B"/>
                </a:solidFill>
                <a:latin typeface="Pretendard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1440000"/>
            <a:ext cx="5400000" cy="288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A636B"/>
                </a:solidFill>
                <a:latin typeface="Pretendard"/>
              </a:rPr>
              <a:t>조건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0" y="1440000"/>
            <a:ext cx="1296000" cy="288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5A636B"/>
                </a:solidFill>
                <a:latin typeface="Pretendard"/>
              </a:rPr>
              <a:t>C1 (Å)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8000" y="1440000"/>
            <a:ext cx="1296000" cy="288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5A636B"/>
                </a:solidFill>
                <a:latin typeface="Pretendard"/>
              </a:rPr>
              <a:t>C2 (Å)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6000" y="1440000"/>
            <a:ext cx="1296000" cy="288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5A636B"/>
                </a:solidFill>
                <a:latin typeface="Pretendard"/>
              </a:rPr>
              <a:t>점수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84000" y="1440000"/>
            <a:ext cx="1296000" cy="288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5A636B"/>
                </a:solidFill>
                <a:latin typeface="Pretendard"/>
              </a:rPr>
              <a:t>C2 통과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1800000"/>
            <a:ext cx="10753200" cy="4860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000" y="1854000"/>
            <a:ext cx="5544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</a:rPr>
              <a:t>수용체 pH7.4 · 리간드 pH7.4  (옳은 짝)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0" y="1854000"/>
            <a:ext cx="1296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</a:rPr>
              <a:t>1.10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8000" y="1854000"/>
            <a:ext cx="1296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</a:rPr>
              <a:t>8.37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6000" y="1854000"/>
            <a:ext cx="1296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</a:rPr>
              <a:t>-9.60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84000" y="1854000"/>
            <a:ext cx="1296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D55E00"/>
                </a:solidFill>
                <a:latin typeface="Pretendard"/>
              </a:rPr>
              <a:t>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2340000"/>
            <a:ext cx="10753200" cy="4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000" y="2394000"/>
            <a:ext cx="5544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Pretendard"/>
              </a:rPr>
              <a:t>수용체 pH7.4 · 리간드 중성  (현행)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0" y="2394000"/>
            <a:ext cx="1296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</a:rPr>
              <a:t>1.07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8000" y="2394000"/>
            <a:ext cx="1296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</a:rPr>
              <a:t>8.36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6000" y="2394000"/>
            <a:ext cx="1296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</a:rPr>
              <a:t>-9.60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4000" y="2394000"/>
            <a:ext cx="1296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D55E00"/>
                </a:solidFill>
                <a:latin typeface="Pretendard"/>
              </a:rPr>
              <a:t>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2880000"/>
            <a:ext cx="10753200" cy="4860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000" y="2934000"/>
            <a:ext cx="5544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Pretendard"/>
              </a:rPr>
              <a:t>수용체 중성 · 리간드 중성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0" y="2934000"/>
            <a:ext cx="1296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</a:rPr>
              <a:t>1.22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8000" y="2934000"/>
            <a:ext cx="1296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</a:rPr>
              <a:t>8.37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6000" y="2934000"/>
            <a:ext cx="1296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</a:rPr>
              <a:t>-9.60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84000" y="2934000"/>
            <a:ext cx="1296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D55E00"/>
                </a:solidFill>
                <a:latin typeface="Pretendard"/>
              </a:rPr>
              <a:t>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000" y="3420000"/>
            <a:ext cx="10753200" cy="4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000" y="3474000"/>
            <a:ext cx="5544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Pretendard"/>
              </a:rPr>
              <a:t>수용체 중성 · 리간드 pH7.4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0000" y="3474000"/>
            <a:ext cx="1296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</a:rPr>
              <a:t>1.22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8000" y="3474000"/>
            <a:ext cx="1296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</a:rPr>
              <a:t>8.37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6000" y="3474000"/>
            <a:ext cx="1296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</a:rPr>
              <a:t>-9.60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84000" y="3474000"/>
            <a:ext cx="1296000" cy="396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D55E00"/>
                </a:solidFill>
                <a:latin typeface="Pretendard"/>
              </a:rPr>
              <a:t>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0000" y="4248000"/>
            <a:ext cx="10753200" cy="936000"/>
          </a:xfrm>
          <a:prstGeom prst="roundRect">
            <a:avLst/>
          </a:prstGeom>
          <a:solidFill>
            <a:srgbClr val="FDF0E6"/>
          </a:solidFill>
          <a:ln w="1778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6000" y="4428000"/>
            <a:ext cx="10321200" cy="648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D55E00"/>
                </a:solidFill>
                <a:latin typeface="Pretendard"/>
              </a:rPr>
              <a:t>기본 Vina 채점 함수에는 정전기 항이 없다.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Pretendard"/>
              </a:rPr>
              <a:t>형식전하는 점수에 닿지 못하고, 바뀐 수소결합 타이핑도 그 질소가 결합 거리 밖이라 항 값이 움직이지 않았다.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216000"/>
            <a:ext cx="4320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72B2"/>
                </a:solidFill>
                <a:latin typeface="Pretendard"/>
              </a:rPr>
              <a:t>원인 배제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432000"/>
            <a:ext cx="11185200" cy="57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B2A4A"/>
                </a:solidFill>
                <a:latin typeface="Pretendard"/>
              </a:rPr>
              <a:t>무너진 원인은 골격도, 설계도, 프로토콜도 아니었다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57200" y="6462000"/>
            <a:ext cx="576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A636B"/>
                </a:solidFill>
                <a:latin typeface="Pretendard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512000"/>
            <a:ext cx="10753200" cy="6480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1584000"/>
            <a:ext cx="4680000" cy="504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Pretendard"/>
              </a:rPr>
              <a:t>① 옛 데이터에 골격 통제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88000" y="1584000"/>
            <a:ext cx="2952000" cy="504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55E00"/>
                </a:solidFill>
                <a:latin typeface="Pretendard"/>
              </a:rPr>
              <a:t>-0.538 → -0.532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4000" y="1584000"/>
            <a:ext cx="2664000" cy="504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>
                <a:solidFill>
                  <a:srgbClr val="5A636B"/>
                </a:solidFill>
                <a:latin typeface="Pretendard"/>
              </a:rPr>
              <a:t>감쇠 1.2%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2232000"/>
            <a:ext cx="10753200" cy="64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2304000"/>
            <a:ext cx="4680000" cy="504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Pretendard"/>
              </a:rPr>
              <a:t>② 옛 데이터의 점수 vs Tanimoto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8000" y="2304000"/>
            <a:ext cx="2952000" cy="504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55E00"/>
                </a:solidFill>
                <a:latin typeface="Pretendard"/>
              </a:rPr>
              <a:t>-0.131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4000" y="2304000"/>
            <a:ext cx="2664000" cy="504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>
                <a:solidFill>
                  <a:srgbClr val="5A636B"/>
                </a:solidFill>
                <a:latin typeface="Pretendard"/>
              </a:rPr>
              <a:t>p = 0.48923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2952000"/>
            <a:ext cx="10753200" cy="6480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3024000"/>
            <a:ext cx="4680000" cy="504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Pretendard"/>
              </a:rPr>
              <a:t>③ 옛 설계를 새 데이터에 재현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8000" y="3024000"/>
            <a:ext cx="2952000" cy="504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55E00"/>
                </a:solidFill>
                <a:latin typeface="Pretendard"/>
              </a:rPr>
              <a:t>중앙값 -0.148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4000" y="3024000"/>
            <a:ext cx="2664000" cy="504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>
                <a:solidFill>
                  <a:srgbClr val="5A636B"/>
                </a:solidFill>
                <a:latin typeface="Pretendard"/>
              </a:rPr>
              <a:t>−0.4 미만 4.7%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3672000"/>
            <a:ext cx="10753200" cy="64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000" y="3744000"/>
            <a:ext cx="4680000" cy="504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Pretendard"/>
              </a:rPr>
              <a:t>④ 옛 30건을 새 프로토콜로 재도킹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8000" y="3744000"/>
            <a:ext cx="2952000" cy="504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55E00"/>
                </a:solidFill>
                <a:latin typeface="Pretendard"/>
              </a:rPr>
              <a:t>-0.538 → -0.527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4000" y="3744000"/>
            <a:ext cx="2664000" cy="504000"/>
          </a:xfrm>
          <a:prstGeom prst="rect">
            <a:avLst/>
          </a:prstGeom>
          <a:noFill/>
        </p:spPr>
        <p:txBody>
          <a:bodyPr wrap="square" anchor="ctr" lIns="36000" rIns="36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>
                <a:solidFill>
                  <a:srgbClr val="5A636B"/>
                </a:solidFill>
                <a:latin typeface="Pretendard"/>
              </a:rPr>
              <a:t>점수 상관 +0.997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4608000"/>
            <a:ext cx="10753200" cy="57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B2A4A"/>
                </a:solidFill>
                <a:latin typeface="Pretendard"/>
              </a:rPr>
              <a:t>네 검정이 모두 후보를 배제한다. 원인은 그 화합물 집합 자체이며, 어떤 성질 때문인지는 이 데이터로 더 좁히지 못했다.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216000"/>
            <a:ext cx="4320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72B2"/>
                </a:solidFill>
                <a:latin typeface="Pretendard"/>
              </a:rPr>
              <a:t>결과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432000"/>
            <a:ext cx="11185200" cy="57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B2A4A"/>
                </a:solidFill>
                <a:latin typeface="Pretendard"/>
              </a:rPr>
              <a:t>교란을 통제해도, 대역을 나눠도 신호는 없다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57200" y="6462000"/>
            <a:ext cx="576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A636B"/>
                </a:solidFill>
                <a:latin typeface="Pretendard"/>
              </a:rPr>
              <a:t>9</a:t>
            </a:r>
          </a:p>
        </p:txBody>
      </p:sp>
      <p:pic>
        <p:nvPicPr>
          <p:cNvPr id="6" name="Picture 5" descr="fig05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572" y="1224000"/>
            <a:ext cx="7742055" cy="424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0000" y="5616000"/>
            <a:ext cx="10753200" cy="432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5A636B"/>
                </a:solidFill>
                <a:latin typeface="Pretendard"/>
              </a:rPr>
              <a:t>전체 </a:t>
            </a:r>
            <a:r>
              <a:rPr sz="1800" b="1">
                <a:solidFill>
                  <a:srgbClr val="D55E00"/>
                </a:solidFill>
                <a:latin typeface="Pretendard"/>
              </a:rPr>
              <a:t>-0.079</a:t>
            </a:r>
            <a:r>
              <a:rPr sz="1600" b="0">
                <a:solidFill>
                  <a:srgbClr val="5A636B"/>
                </a:solidFill>
                <a:latin typeface="Pretendard"/>
              </a:rPr>
              <a:t>    골격 통제 </a:t>
            </a:r>
            <a:r>
              <a:rPr sz="1800" b="1">
                <a:solidFill>
                  <a:srgbClr val="D55E00"/>
                </a:solidFill>
                <a:latin typeface="Pretendard"/>
              </a:rPr>
              <a:t>-0.105</a:t>
            </a:r>
            <a:r>
              <a:rPr sz="1600" b="0">
                <a:solidFill>
                  <a:srgbClr val="5A636B"/>
                </a:solidFill>
                <a:latin typeface="Pretendard"/>
              </a:rPr>
              <a:t>    골격+크기 </a:t>
            </a:r>
            <a:r>
              <a:rPr sz="1800" b="1">
                <a:solidFill>
                  <a:srgbClr val="D55E00"/>
                </a:solidFill>
                <a:latin typeface="Pretendard"/>
              </a:rPr>
              <a:t>-0.088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216000"/>
            <a:ext cx="4320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72B2"/>
                </a:solidFill>
                <a:latin typeface="Pretendard"/>
              </a:rPr>
              <a:t>결과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432000"/>
            <a:ext cx="11185200" cy="57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B2A4A"/>
                </a:solidFill>
                <a:latin typeface="Pretendard"/>
              </a:rPr>
              <a:t>한 대역만 유의하지만, 그 신호는 칸 하나에 얹혀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57200" y="6462000"/>
            <a:ext cx="576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A636B"/>
                </a:solidFill>
                <a:latin typeface="Pretendard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2016000"/>
            <a:ext cx="3680400" cy="792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009E73"/>
                </a:solidFill>
                <a:latin typeface="Pretendard"/>
              </a:rPr>
              <a:t>-0.397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2736000"/>
            <a:ext cx="3680400" cy="36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6B"/>
                </a:solidFill>
                <a:latin typeface="Pretendard"/>
              </a:rPr>
              <a:t>near 대역 ρ  (p = 0.00365)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6400" y="2016000"/>
            <a:ext cx="3680400" cy="792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D55E00"/>
                </a:solidFill>
                <a:latin typeface="Pretendard"/>
              </a:rPr>
              <a:t>0.792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6400" y="2736000"/>
            <a:ext cx="3680400" cy="36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6B"/>
                </a:solidFill>
                <a:latin typeface="Pretendard"/>
              </a:rPr>
              <a:t>AUC  95% CI [0.64, 0.95]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800" y="2016000"/>
            <a:ext cx="3680400" cy="792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D55E00"/>
                </a:solidFill>
                <a:latin typeface="Pretendard"/>
              </a:rPr>
              <a:t>-0.219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800" y="2736000"/>
            <a:ext cx="3680400" cy="36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6B"/>
                </a:solidFill>
                <a:latin typeface="Pretendard"/>
              </a:rPr>
              <a:t>전수 칸 제외 시 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000" y="3888000"/>
            <a:ext cx="10465200" cy="1440000"/>
          </a:xfrm>
          <a:prstGeom prst="roundRect">
            <a:avLst/>
          </a:prstGeom>
          <a:solidFill>
            <a:srgbClr val="FDF0E6"/>
          </a:solidFill>
          <a:ln w="2032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000" y="4104000"/>
            <a:ext cx="10033200" cy="108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D55E00"/>
                </a:solidFill>
                <a:latin typeface="Pretendard"/>
              </a:rPr>
              <a:t>이 결과에 무게를 실을 수 없다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Pretendard"/>
              </a:rPr>
              <a:t>(a) AUC 신뢰구간이 사전 기준 0.7 을 포함한다   (b) 전수(census)인 약함 칸을 빼면 유의하지 않다   (c) 그 칸의 역가가 어세이 바닥값에 몰려 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216000"/>
            <a:ext cx="4320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72B2"/>
                </a:solidFill>
                <a:latin typeface="Pretendard"/>
              </a:rPr>
              <a:t>해석의 상한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432000"/>
            <a:ext cx="11185200" cy="57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B2A4A"/>
                </a:solidFill>
                <a:latin typeface="Pretendard"/>
              </a:rPr>
              <a:t>우리가 점수를 매긴 자세의 81%는 결정 자세 틀 밖에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57200" y="6462000"/>
            <a:ext cx="576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A636B"/>
                </a:solidFill>
                <a:latin typeface="Pretendard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2016000"/>
            <a:ext cx="2832300" cy="792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>
                <a:solidFill>
                  <a:srgbClr val="D55E00"/>
                </a:solidFill>
                <a:latin typeface="Pretendard"/>
              </a:rPr>
              <a:t>4.50 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2736000"/>
            <a:ext cx="2832300" cy="36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6B"/>
                </a:solidFill>
                <a:latin typeface="Pretendard"/>
              </a:rPr>
              <a:t>1위 자세 MCS-RMSD 중앙값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4300" y="2016000"/>
            <a:ext cx="2832300" cy="792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>
                <a:solidFill>
                  <a:srgbClr val="D55E00"/>
                </a:solidFill>
                <a:latin typeface="Pretendard"/>
              </a:rPr>
              <a:t>19.0%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4300" y="2736000"/>
            <a:ext cx="2832300" cy="36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6B"/>
                </a:solidFill>
                <a:latin typeface="Pretendard"/>
              </a:rPr>
              <a:t>2 Å 기준 통과 (전체)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600" y="2016000"/>
            <a:ext cx="2832300" cy="792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>
                <a:solidFill>
                  <a:srgbClr val="D55E00"/>
                </a:solidFill>
                <a:latin typeface="Pretendard"/>
              </a:rPr>
              <a:t>1.8%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600" y="2736000"/>
            <a:ext cx="2832300" cy="36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6B"/>
                </a:solidFill>
                <a:latin typeface="Pretendard"/>
              </a:rPr>
              <a:t>far 대역 통과율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8900" y="2016000"/>
            <a:ext cx="2832300" cy="792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>
                <a:solidFill>
                  <a:srgbClr val="D55E00"/>
                </a:solidFill>
                <a:latin typeface="Pretendard"/>
              </a:rPr>
              <a:t>25.0%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28900" y="2736000"/>
            <a:ext cx="2832300" cy="36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6B"/>
                </a:solidFill>
                <a:latin typeface="Pretendard"/>
              </a:rPr>
              <a:t>near 대역 통과율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000" y="4032000"/>
            <a:ext cx="10465200" cy="144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B2A4A"/>
                </a:solidFill>
                <a:latin typeface="Pretendard"/>
              </a:rPr>
              <a:t>이 지표가 무엇을 재는지 분명히 해 둔다.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Pretendard"/>
              </a:rPr>
              <a:t>실데나필 외의 화합물에는 실험 결정 자세가 없다. 이 값은 “자세가 맞는가”가 아니라 “공유 부분구조가 공결정 리간드 위에 겹치는가”를 잰다. 골격이 다른 far 대역에서는 해석이 특히 약하므로 대역별로 읽어야 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216000"/>
            <a:ext cx="4320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72B2"/>
                </a:solidFill>
                <a:latin typeface="Pretendard"/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" y="432000"/>
            <a:ext cx="11185200" cy="57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B2A4A"/>
                </a:solidFill>
                <a:latin typeface="Pretendard"/>
              </a:rPr>
              <a:t>정리 — 무엇을 말할 수 있고 무엇을 말할 수 없는가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57200" y="6462000"/>
            <a:ext cx="576000" cy="21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A636B"/>
                </a:solidFill>
                <a:latin typeface="Pretendard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440000"/>
            <a:ext cx="144000" cy="61200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4000" y="1440000"/>
            <a:ext cx="10393200" cy="36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55E00"/>
                </a:solidFill>
                <a:latin typeface="Pretendard"/>
              </a:rPr>
              <a:t>정량 예측은 실패했다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" y="1782000"/>
            <a:ext cx="10393200" cy="288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36B"/>
                </a:solidFill>
                <a:latin typeface="Pretendard"/>
              </a:rPr>
              <a:t>Q² 세 모델 모두 0 근처, 기준 0.3 에 미달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2196000"/>
            <a:ext cx="144000" cy="61200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4000" y="2196000"/>
            <a:ext cx="10393200" cy="36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55E00"/>
                </a:solidFill>
                <a:latin typeface="Pretendard"/>
              </a:rPr>
              <a:t>선별도 전체적으로는 작동하지 않았다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4000" y="2538000"/>
            <a:ext cx="10393200" cy="288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36B"/>
                </a:solidFill>
                <a:latin typeface="Pretendard"/>
              </a:rPr>
              <a:t>한 대역의 신호는 칸 하나에 의존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2952000"/>
            <a:ext cx="144000" cy="6120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4000" y="2952000"/>
            <a:ext cx="10393200" cy="36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09E73"/>
                </a:solidFill>
                <a:latin typeface="Pretendard"/>
              </a:rPr>
              <a:t>네 후보를 실험으로 제거했다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4000" y="3294000"/>
            <a:ext cx="10393200" cy="288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36B"/>
                </a:solidFill>
                <a:latin typeface="Pretendard"/>
              </a:rPr>
              <a:t>탐색 깊이 · 프로토네이션 · 프로토콜 · 골격 교란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3708000"/>
            <a:ext cx="144000" cy="612000"/>
          </a:xfrm>
          <a:prstGeom prst="rect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000" y="3708000"/>
            <a:ext cx="10393200" cy="360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2A4A"/>
                </a:solidFill>
                <a:latin typeface="Pretendard"/>
              </a:rPr>
              <a:t>남은 후보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000" y="4050000"/>
            <a:ext cx="10393200" cy="288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36B"/>
                </a:solidFill>
                <a:latin typeface="Pretendard"/>
              </a:rPr>
              <a:t>물 제거 · 강체 수용체 · 단일 배좌 · holo 편향 · 채점 함수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4608000"/>
            <a:ext cx="10753200" cy="1152000"/>
          </a:xfrm>
          <a:prstGeom prst="roundRect">
            <a:avLst/>
          </a:prstGeom>
          <a:solidFill>
            <a:srgbClr val="F3F5F7"/>
          </a:solidFill>
          <a:ln w="2032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000" y="4788000"/>
            <a:ext cx="10321200" cy="864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0B2A4A"/>
                </a:solidFill>
                <a:latin typeface="Pretendard"/>
              </a:rPr>
              <a:t>실무 지침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Pretendard"/>
              </a:rPr>
              <a:t>① 재도킹 대조를 C1/C2 로 쪼개고 깊이를 흔들어 병목을 특정하라   ② 점수를 매긴 자세가 어디에 놓였는지 먼저 보고하라   ③ 벤치마크의 골격 분포를 통제하라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4000" y="2016000"/>
            <a:ext cx="10465200" cy="864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같은 데이터로 세 판본, 세 결론.
매번 게이트는 전부 통과했다.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3600000"/>
            <a:ext cx="10465200" cy="504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9FC5E0"/>
                </a:solidFill>
                <a:latin typeface="Pretendard"/>
              </a:rPr>
              <a:t>오류를 찾은 것은 자동 검증이 아니라 외부 비평이었다. 게이트는 수치가 산출되었는지를 검사할 뿐, 결론이 데이터에서 따라 나오는지는 검사하지 못한다.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4968000"/>
            <a:ext cx="10465200" cy="576000"/>
          </a:xfrm>
          <a:prstGeom prst="rect">
            <a:avLst/>
          </a:prstGeom>
          <a:noFill/>
        </p:spPr>
        <p:txBody>
          <a:bodyPr wrap="square" anchor="t" lIns="36000" rIns="3600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9FC5E0"/>
                </a:solidFill>
                <a:latin typeface="Pretendard"/>
              </a:rPr>
              <a:t>전 산출물 · 코드 · 리뷰 기록 공개</a:t>
            </a:r>
          </a:p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Pretendard"/>
              </a:rPr>
              <a:t>github.com/fourmodern/2026_aidrugdiscovery → Day06_LLM_Agent/pde5_harness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