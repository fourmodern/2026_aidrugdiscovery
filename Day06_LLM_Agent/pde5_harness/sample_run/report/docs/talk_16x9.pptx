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12분. 배분: 2번 45초 · 3번 45초 · 4번 70초 · 5번 60초 · 6번 70초 · 7·8번 각 60초 · 9번 70초 · 10번 70초 · 11번 75초 · 12번 60초 · 13번 35초.</a:t>
            </a:r>
          </a:p>
          <a:p>
            <a:r>
              <a:t>구성: 문제 → 사전 합격선 → 답 → 설계 → (자세 갈래 6-8) → (상관 갈래 9-11) → 정리.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표적 좌표는 대개 어떤 리간드가 결합한 채로 풀린 holo 구조입니다. 그 리간드를 닮은 화합물은 두 경로로 유리해집니다. 포켓이 그 리간드에 맞춰 유도적합돼 있으니 기하학적으로 잘 맞고, 같은 계열을 최적화한 산물이니 실제로도 강력합니다. 방향이 같으니 상관은 나옵니다. 그런데 그게 채점 능력인지 골격 닮음인지 구분이 안 됩니다.</a:t>
            </a:r>
          </a:p>
          <a:p>
            <a:r>
              <a:t>[다음으로] 그래서 우리는 먼저 무엇을 성공으로 볼지부터 정했습니다.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보여드리기 전에 합격선을 먼저 말씀드립니다. 뒤에 나오는 판정은 전부 이 표 대비입니다. 목적 4는 원래 계획에 없었는데, 재도킹 대조가 실패하면서 추가됐습니다.</a:t>
            </a:r>
          </a:p>
          <a:p>
            <a:r>
              <a:t>[다음으로] 결과부터 말씀드리면, 넷 중 하나도 넘지 못했습니다.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전체 순위상관이 -0.079, p는 0.32입니다. Q²는 -0.018로 기준 0.3에, AUC는 0.574로 기준 0.7에 미달합니다. 중요한 건 아래 문장입니다 — 이건 귀무를 채택한 게 아닙니다. 신뢰구간 상한이 +0.08이니 약한 관계까지 배제하지는 못합니다.</a:t>
            </a:r>
          </a:p>
          <a:p>
            <a:r>
              <a:t>[다음으로] 이 숫자가 나온 설계를 보시겠습니다.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ChEMBL 전수를 받아 화합물당 중앙값으로 집계하고, 역가 3구간과 실데나필 Tanimoto 3구간의 격자에서 균등 추출했습니다. 교란 상관이 0.281에서 0.175로 떨어집니다. 완전한 직교화는 화학적으로 불가능합니다 — 실데나필과 매우 닮았는데 약한 화합물이 드물어서 오른쪽 아래 두 칸이 얇습니다.</a:t>
            </a:r>
          </a:p>
          <a:p>
            <a:r>
              <a:t>[다음으로] 그런데 이 결과를 해석하기 전에 확인할 게 있었습니다. 재도킹 대조입니다.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C1은 상위 모드 중 최선, C2는 점수 1위 자세입니다. 합쳐 하나로 보고하면 탐색 실패인지 채점 실패인지 알 수 없습니다. 공결정 리간드에서 C2가 실패했는데, 이건 한 건짜리 일화가 아닙니다. 163개 전체로 재면 중앙값 4.50 Å, 2 Å 기준을 넘는 게 19%뿐입니다. 즉 앞으로 보실 상관은 대부분 틀린 자세에 매긴 점수에 대한 것입니다. 이게 이 연구에서 가장 큰 제약입니다.</a:t>
            </a:r>
          </a:p>
          <a:p>
            <a:r>
              <a:t>[다음으로] 그럼 왜 채점이 실패했나. 후보를 하나씩 지워 보겠습니다.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깊이 4에서 128까지, 시드 3개. C1은 통과율 0에서 100%로 완전히 고쳐지는데 C2는 전 구간 0%이고 최고 점수는 아예 변하지 않습니다. 해석하면 — 탐색은 가장 얕은 깊이에서 이미 전역 최소를 찾았고, 그 최소가 결정 자세에서 8.4 Å 떨어진 자리에 있습니다. 탐색으로는 고칠 수 없다는 뜻입니다.</a:t>
            </a:r>
          </a:p>
          <a:p>
            <a:r>
              <a:t>[다음으로] 두 번째 후보는 프로토네이션이었습니다.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수용체는 pH 7.4로 프로토네이션했는데 리간드는 중성 그대로였습니다. 실데나필의 피페라진은 생리적 pH에서 양성자화되니 이 비대칭이 원인일 수 있었습니다. 2×2로 맞춰 봤더니 네 조건 점수가 전부 -9.60으로 같습니다. 이유까지 확인했습니다 — 기본 Vina 함수에 정전기 항이 없습니다. 타이핑은 실제로 바뀌었는데 그 질소가 결합 거리 밖이라 수소결합 항이 안 움직였습니다.</a:t>
            </a:r>
          </a:p>
          <a:p>
            <a:r>
              <a:t>[다음으로] 자세 갈래는 여기까지입니다. 이제 본 결과인 상관으로 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골격과 크기를 각각, 그리고 동시에 통제했습니다. 원상관 -0.079가 통제 후에도 -0.088에서 -0.105 사이로 거의 그대로입니다. 유사도 대역으로 쪼개도 far와 mid는 0 근처입니다. 막대는 95% 신뢰구간이고 전부 0을 포함합니다.</a:t>
            </a:r>
          </a:p>
          <a:p>
            <a:r>
              <a:t>[다음으로] 딱 한 대역만 다릅니다.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near 대역, 즉 실데나필과 닮은 화합물들만 유의합니다. 보정 후에도 살아남고 교란 통제하면 오히려 강해집니다. 그런데 세 가지 때문에 무게를 실을 수 없습니다. AUC 신뢰구간이 기준 0.7을 포함하고, 그 대역의 약함 칸이 전수라서 빼면 유의하지 않고, 그 칸 역가가 어세이 바닥값에 몰려 있습니다. 게다가 그 대역조차 자세가 25%만 기준 안에 있습니다.</a:t>
            </a:r>
          </a:p>
          <a:p>
            <a:r>
              <a:t>[다음으로] 여기까지가 이번 데이터입니다. 남은 질문이 하나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주제가 바뀝니다. 앞은 자세와 상관 이야기였고, 이건 우리 자신에 대한 이야기입니다. 같은 하네스가 n=30에서 -0.538을 냈었습니다. 이 판본 초안은 그게 골격 교란 때문이라고 적었습니다. 그런데 옛 데이터에 같은 통제를 적용해 보니 1.2%만 줄었습니다. 설계 재현도, 프로토콜 재도킹도 원인이 아니었습니다. 원인은 그 화합물 집합 자체이고, 어떤 성질 때문인지는 특정하지 못했습니다.</a:t>
            </a:r>
          </a:p>
          <a:p>
            <a:r>
              <a:t>[다음으로] 정리하겠습니다.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앞에서 말씀드린 결과는 반복하지 않겠습니다. 남은 것과 가져가실 것만 말씀드립니다. 배제한 것과 배제하지 못한 것을 구분해서 적었습니다.</a:t>
            </a:r>
          </a:p>
          <a:p>
            <a:r>
              <a:t>[다음으로] 마지막으로 이 연구가 자기 자신에 대해 알아낸 것을 말씀드리겠습니다.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대비: (1) 왜 PDE5A 인가 — 결정 구조와 활성 데이터가 모두 풍부해서. (2) 다른 표적에서도 같은가 — 검정하지 않았고 그것이 가장 큰 한계. 표적 하나, 구조 하나입니다. (3) 물을 넣으면 달라지나 — 배제하지 못한 후보이며 다음 실험. (4) 자세가 81% 틀렸는데 상관을 논할 수 있나 — 그래서 6번에서 미리 상한을 걸었고, 결론도 그 안에서만 말했습니다.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4000" y="1872000"/>
            <a:ext cx="10465200" cy="108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</a:rPr>
              <a:t>골격 유사성과 역가를 직교화한
PDE5A 도킹 재평가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000" y="3600000"/>
            <a:ext cx="10465200" cy="432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>
                <a:solidFill>
                  <a:srgbClr val="9FC5E0"/>
                </a:solidFill>
                <a:latin typeface="Pretendard"/>
              </a:rPr>
              <a:t>선행 상관의 재현 실패, 그리고 자세 타당도가 정하는 해석의 상한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000" y="4752000"/>
            <a:ext cx="10465200" cy="72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9FC5E0"/>
                </a:solidFill>
                <a:latin typeface="Pretendard"/>
              </a:rPr>
              <a:t>smina / AutoDock Vina 1.1.2  ·  PDB 1UDT  ·  ChEMBL PDE5A  n = 163</a:t>
            </a:r>
          </a:p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Pretendard"/>
              </a:rPr>
              <a:t>전 산출물·코드·리뷰 기록 공개 — github.com/fourmodern/2026_aidrugdiscovery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홀로 구조를 쓰면 점수와 골격 닮음이 같은 방향을 가리킨다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2</a:t>
            </a:r>
          </a:p>
        </p:txBody>
      </p:sp>
      <p:pic>
        <p:nvPicPr>
          <p:cNvPr id="6" name="Picture 5" descr="fig00_pro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2000" y="1152000"/>
            <a:ext cx="8449200" cy="445057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약속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사전에 정한 합격선은 넷이었다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0" y="1440000"/>
            <a:ext cx="42480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A636B"/>
                </a:solidFill>
                <a:latin typeface="Pretendard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32000" y="1440000"/>
            <a:ext cx="29520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5A636B"/>
                </a:solidFill>
                <a:latin typeface="Pretendard"/>
              </a:rPr>
              <a:t>판정 지표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0" y="1440000"/>
            <a:ext cx="26640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5A636B"/>
                </a:solidFill>
                <a:latin typeface="Pretendard"/>
              </a:rPr>
              <a:t>사전 합격선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00" y="1800000"/>
            <a:ext cx="10753200" cy="75600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4000" y="1944000"/>
            <a:ext cx="432000" cy="4680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000" y="1944000"/>
            <a:ext cx="43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0000" y="1944000"/>
            <a:ext cx="4248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Pretendard"/>
              </a:rPr>
              <a:t>역가를 정량 예측하는가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32000" y="1944000"/>
            <a:ext cx="295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5A636B"/>
                </a:solidFill>
                <a:latin typeface="Pretendard"/>
              </a:rPr>
              <a:t>교차검증 Q²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0" y="1944000"/>
            <a:ext cx="2664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72B2"/>
                </a:solidFill>
                <a:latin typeface="Pretendard"/>
              </a:rPr>
              <a:t>Q² ≥ 0.3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000" y="2628000"/>
            <a:ext cx="10753200" cy="7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4000" y="2772000"/>
            <a:ext cx="432000" cy="4680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4000" y="2772000"/>
            <a:ext cx="43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0000" y="2772000"/>
            <a:ext cx="4248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Pretendard"/>
              </a:rPr>
              <a:t>강한 화합물을 선별하는가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32000" y="2772000"/>
            <a:ext cx="295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5A636B"/>
                </a:solidFill>
                <a:latin typeface="Pretendard"/>
              </a:rPr>
              <a:t>순위상관 · ROC-AUC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0000" y="2772000"/>
            <a:ext cx="2664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72B2"/>
                </a:solidFill>
                <a:latin typeface="Pretendard"/>
              </a:rPr>
              <a:t>p &lt; 0.05  &amp;  AUC ≥ 0.7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0000" y="3456000"/>
            <a:ext cx="10753200" cy="75600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64000" y="3600000"/>
            <a:ext cx="432000" cy="4680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4000" y="3600000"/>
            <a:ext cx="43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0000" y="3600000"/>
            <a:ext cx="4248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Pretendard"/>
              </a:rPr>
              <a:t>골격 통제 후에도 남는가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32000" y="3600000"/>
            <a:ext cx="295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5A636B"/>
                </a:solidFill>
                <a:latin typeface="Pretendard"/>
              </a:rPr>
              <a:t>Tanimoto 편상관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0000" y="3600000"/>
            <a:ext cx="2664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72B2"/>
                </a:solidFill>
                <a:latin typeface="Pretendard"/>
              </a:rPr>
              <a:t>원상관의 60% 이상 유지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0000" y="4284000"/>
            <a:ext cx="10753200" cy="75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4000" y="4428000"/>
            <a:ext cx="432000" cy="46800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4000" y="4428000"/>
            <a:ext cx="43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0000" y="4428000"/>
            <a:ext cx="4248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1A1A1A"/>
                </a:solidFill>
                <a:latin typeface="Pretendard"/>
              </a:rPr>
              <a:t>대조 실패 시 무엇이 병목인가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32000" y="4428000"/>
            <a:ext cx="295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5A636B"/>
                </a:solidFill>
                <a:latin typeface="Pretendard"/>
              </a:rPr>
              <a:t>C1 / C2 분리 + 통제 실험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0000" y="4428000"/>
            <a:ext cx="2664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0072B2"/>
                </a:solidFill>
                <a:latin typeface="Pretendard"/>
              </a:rPr>
              <a:t>후보를 실험으로 제거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0000" y="5256000"/>
            <a:ext cx="10753200" cy="36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5A636B"/>
                </a:solidFill>
                <a:latin typeface="Pretendard"/>
              </a:rPr>
              <a:t>사후성 고지 — 이 기준은 문헌 관행에서 가져왔고 데이터를 본 뒤 명문화했다 (논문 §2.6)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결론부터 — 넷 중 하나도 넘지 못했다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1440000"/>
            <a:ext cx="10753200" cy="1224000"/>
          </a:xfrm>
          <a:prstGeom prst="roundRect">
            <a:avLst/>
          </a:prstGeom>
          <a:solidFill>
            <a:srgbClr val="FDF0E6"/>
          </a:solidFill>
          <a:ln w="25400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6000" y="1692000"/>
            <a:ext cx="10321200" cy="504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>
                <a:solidFill>
                  <a:srgbClr val="D55E00"/>
                </a:solidFill>
                <a:latin typeface="Pretendard"/>
              </a:rPr>
              <a:t>ρ = -0.079    (95% CI -0.23 ~ +0.08,   p = 0.31878)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3024000"/>
            <a:ext cx="3584400" cy="72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800" b="1">
                <a:solidFill>
                  <a:srgbClr val="D55E00"/>
                </a:solidFill>
                <a:latin typeface="Pretendard"/>
              </a:rPr>
              <a:t>-0.018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3816000"/>
            <a:ext cx="35844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교차검증 Q²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4140000"/>
            <a:ext cx="35844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5A636B"/>
                </a:solidFill>
                <a:latin typeface="Pretendard"/>
              </a:rPr>
              <a:t>기준 0.3  →  미달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04400" y="3024000"/>
            <a:ext cx="3584400" cy="72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800" b="1">
                <a:solidFill>
                  <a:srgbClr val="D55E00"/>
                </a:solidFill>
                <a:latin typeface="Pretendard"/>
              </a:rPr>
              <a:t>0.574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4400" y="3816000"/>
            <a:ext cx="35844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ROC-AUC 전체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4400" y="4140000"/>
            <a:ext cx="35844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5A636B"/>
                </a:solidFill>
                <a:latin typeface="Pretendard"/>
              </a:rPr>
              <a:t>기준 0.7  →  미달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8800" y="3024000"/>
            <a:ext cx="3584400" cy="72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800" b="1">
                <a:solidFill>
                  <a:srgbClr val="D55E00"/>
                </a:solidFill>
                <a:latin typeface="Pretendard"/>
              </a:rPr>
              <a:t>0.31878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8800" y="3816000"/>
            <a:ext cx="35844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순열 검정 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8800" y="4140000"/>
            <a:ext cx="35844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5A636B"/>
                </a:solidFill>
                <a:latin typeface="Pretendard"/>
              </a:rPr>
              <a:t>기준 0.05  →  미달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0000" y="4680000"/>
            <a:ext cx="10753200" cy="1080000"/>
          </a:xfrm>
          <a:prstGeom prst="roundRect">
            <a:avLst/>
          </a:prstGeom>
          <a:solidFill>
            <a:srgbClr val="F3F5F7"/>
          </a:solidFill>
          <a:ln w="1778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000" y="4860000"/>
            <a:ext cx="10321200" cy="792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0B2A4A"/>
                </a:solidFill>
                <a:latin typeface="Pretendard"/>
              </a:rPr>
              <a:t>“신호 없음” 은 귀무를 채택한 것이 아니다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신뢰구간 상한이 +0.08 이므로 |ρ| ≲ 0.23 인 관계는 이 데이터로 배제하지 못한다. 기각하지 못한 것이지 없다고 보인 것이 아니다.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역가와 골격 유사도를 9칸 격자로 직교화했다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5</a:t>
            </a:r>
          </a:p>
        </p:txBody>
      </p:sp>
      <p:pic>
        <p:nvPicPr>
          <p:cNvPr id="6" name="Picture 5" descr="fig02_data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465" y="1368000"/>
            <a:ext cx="10584268" cy="331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0000" y="4896000"/>
            <a:ext cx="10753200" cy="64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ChEMBL PDE5A 활성 2538 레코드 전수 → 화합물당 중앙값 (2158종) → 9칸 격자 균등 추출 n = 163</a:t>
            </a:r>
          </a:p>
          <a:p>
            <a:pPr algn="ctr">
              <a:spcAft>
                <a:spcPts val="300"/>
              </a:spcAft>
            </a:pPr>
            <a:r>
              <a:rPr sz="1700" b="1">
                <a:solidFill>
                  <a:srgbClr val="009E73"/>
                </a:solidFill>
                <a:latin typeface="Pretendard"/>
              </a:rPr>
              <a:t>교란 상관 Pearson +0.175   (역가로만 층화한 옛 설계 +0.281)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해석의 상한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재도킹 대조를 쪼개니 채점이 실패했다 — 103개 중 72%가 같은 실패다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6</a:t>
            </a:r>
          </a:p>
        </p:txBody>
      </p:sp>
      <p:pic>
        <p:nvPicPr>
          <p:cNvPr id="6" name="Picture 5" descr="fig03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00" y="1296000"/>
            <a:ext cx="6336000" cy="310260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056000" y="1440000"/>
            <a:ext cx="4752000" cy="684000"/>
          </a:xfrm>
          <a:prstGeom prst="round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0" y="1548000"/>
            <a:ext cx="4464000" cy="46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Pretendard"/>
              </a:rPr>
              <a:t>C1  샘플링   1.08 Å  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56000" y="2232000"/>
            <a:ext cx="4752000" cy="684000"/>
          </a:xfrm>
          <a:prstGeom prst="round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00000" y="2340000"/>
            <a:ext cx="4464000" cy="46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Pretendard"/>
              </a:rPr>
              <a:t>C2  채점   8.37 Å   FAIL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56000" y="3168000"/>
            <a:ext cx="4752000" cy="1656000"/>
          </a:xfrm>
          <a:prstGeom prst="roundRect">
            <a:avLst/>
          </a:prstGeom>
          <a:solidFill>
            <a:srgbClr val="FDF0E6"/>
          </a:solidFill>
          <a:ln w="20320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0" y="3312000"/>
            <a:ext cx="4464000" cy="144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D55E00"/>
                </a:solidFill>
                <a:latin typeface="Pretendard"/>
              </a:rPr>
              <a:t>그리고 이건 n=1 이 아니다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A1A1A"/>
                </a:solidFill>
                <a:latin typeface="Pretendard"/>
              </a:rPr>
              <a:t>해석 가능한 대역 103건의 MCS-RMSD 중앙값 3.79 Å, 2 Å 기준 통과 28.2%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D55E00"/>
                </a:solidFill>
                <a:latin typeface="Pretendard"/>
              </a:rPr>
              <a:t>→ 뒤에 나오는 상관은 대부분 틀린 자세에 매긴 점수에 대한 것이다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000" y="5040000"/>
            <a:ext cx="11473200" cy="504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B2A4A"/>
                </a:solidFill>
                <a:latin typeface="Pretendard"/>
              </a:rPr>
              <a:t>공결정 리간드 재도킹의 C2 실패는 예외가 아니라 전체의 축소판이다 — 같은 기준, 같은 실패, 163배 규모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C2 실패 원인 배제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탐색을 32배 늘려도 채점은 미동도 없었다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7</a:t>
            </a:r>
          </a:p>
        </p:txBody>
      </p:sp>
      <p:pic>
        <p:nvPicPr>
          <p:cNvPr id="6" name="Picture 5" descr="fig08_exhaustive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68" y="1368000"/>
            <a:ext cx="10221664" cy="374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0000" y="5328000"/>
            <a:ext cx="10753200" cy="432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009E73"/>
                </a:solidFill>
                <a:latin typeface="Pretendard"/>
              </a:rPr>
              <a:t>C1 통과율 0% → 100%</a:t>
            </a:r>
            <a:r>
              <a:rPr sz="1700" b="0">
                <a:solidFill>
                  <a:srgbClr val="1A1A1A"/>
                </a:solidFill>
                <a:latin typeface="Pretendard"/>
              </a:rPr>
              <a:t>        </a:t>
            </a:r>
            <a:r>
              <a:rPr sz="1700" b="1">
                <a:solidFill>
                  <a:srgbClr val="D55E00"/>
                </a:solidFill>
                <a:latin typeface="Pretendard"/>
              </a:rPr>
              <a:t>C2 전 구간 0%, 변동 0.025 Å</a:t>
            </a:r>
            <a:r>
              <a:rPr sz="1700" b="0">
                <a:solidFill>
                  <a:srgbClr val="1A1A1A"/>
                </a:solidFill>
                <a:latin typeface="Pretendard"/>
              </a:rPr>
              <a:t>        </a:t>
            </a:r>
            <a:r>
              <a:rPr sz="1700" b="1">
                <a:solidFill>
                  <a:srgbClr val="D55E00"/>
                </a:solidFill>
                <a:latin typeface="Pretendard"/>
              </a:rPr>
              <a:t>최고 점수 변동 0.0 kcal/mol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C2 실패 원인 배제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프로토네이션도 원인이 아니었다 — 그리고 그럴 수 없었다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1368000"/>
            <a:ext cx="54000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A636B"/>
                </a:solidFill>
                <a:latin typeface="Pretendard"/>
              </a:rPr>
              <a:t>조건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0" y="1368000"/>
            <a:ext cx="12960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5A636B"/>
                </a:solidFill>
                <a:latin typeface="Pretendard"/>
              </a:rPr>
              <a:t>C1 (Å)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48000" y="1368000"/>
            <a:ext cx="12960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5A636B"/>
                </a:solidFill>
                <a:latin typeface="Pretendard"/>
              </a:rPr>
              <a:t>C2 (Å)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6000" y="1368000"/>
            <a:ext cx="12960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5A636B"/>
                </a:solidFill>
                <a:latin typeface="Pretendard"/>
              </a:rPr>
              <a:t>점수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4000" y="1368000"/>
            <a:ext cx="1296000" cy="28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5A636B"/>
                </a:solidFill>
                <a:latin typeface="Pretendard"/>
              </a:rPr>
              <a:t>C2 통과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0000" y="1728000"/>
            <a:ext cx="10753200" cy="48600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000" y="1782000"/>
            <a:ext cx="5544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</a:rPr>
              <a:t>수용체 pH7.4 · 리간드 pH7.4  (옳은 짝)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0000" y="178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1.10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8000" y="178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8.37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16000" y="178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-9.60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4000" y="178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D55E00"/>
                </a:solidFill>
                <a:latin typeface="Pretendard"/>
              </a:rPr>
              <a:t>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000" y="2268000"/>
            <a:ext cx="10753200" cy="4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000" y="2322000"/>
            <a:ext cx="5544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수용체 pH7.4 · 리간드 중성  (현행)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0000" y="232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1.07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000" y="232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8.36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6000" y="232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-9.60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84000" y="232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D55E00"/>
                </a:solidFill>
                <a:latin typeface="Pretendard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0000" y="2808000"/>
            <a:ext cx="10753200" cy="48600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4000" y="2862000"/>
            <a:ext cx="5544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수용체 중성 · 리간드 중성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286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1.22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48000" y="286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8.37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6000" y="286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-9.60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4000" y="286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D55E00"/>
                </a:solidFill>
                <a:latin typeface="Pretendard"/>
              </a:rPr>
              <a:t>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0000" y="3348000"/>
            <a:ext cx="10753200" cy="4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4000" y="3402000"/>
            <a:ext cx="5544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수용체 중성 · 리간드 pH7.4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0000" y="340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1.22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8000" y="340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8.37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16000" y="340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</a:rPr>
              <a:t>-9.60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84000" y="3402000"/>
            <a:ext cx="1296000" cy="396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D55E00"/>
                </a:solidFill>
                <a:latin typeface="Pretendard"/>
              </a:rPr>
              <a:t>0%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0000" y="4104000"/>
            <a:ext cx="10753200" cy="1080000"/>
          </a:xfrm>
          <a:prstGeom prst="roundRect">
            <a:avLst/>
          </a:prstGeom>
          <a:solidFill>
            <a:srgbClr val="FDF0E6"/>
          </a:solidFill>
          <a:ln w="17780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6000" y="4248000"/>
            <a:ext cx="10321200" cy="864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D55E00"/>
                </a:solidFill>
                <a:latin typeface="Pretendard"/>
              </a:rPr>
              <a:t>기본 Vina 채점 함수에는 정전기 항이 없다.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형식전하는 점수에 닿지 못하고, 바뀐 수소결합 타이핑도 그 질소가 결합 거리 밖이라 항 값이 움직이지 않았다. 원리적으로 원인이 될 수 없다.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0000" y="5400000"/>
            <a:ext cx="10753200" cy="36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B2A4A"/>
                </a:solidFill>
                <a:latin typeface="Pretendard"/>
              </a:rPr>
              <a:t>여기까지가 자세 갈래 — C2 실패의 두 후보를 지웠다. 이제 상관 갈래로 넘어간다.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결과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교란을 통제해도, 대역을 나눠도 신호는 없다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9</a:t>
            </a:r>
          </a:p>
        </p:txBody>
      </p:sp>
      <p:pic>
        <p:nvPicPr>
          <p:cNvPr id="6" name="Picture 5" descr="fig05_fo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129" y="1152000"/>
            <a:ext cx="8266940" cy="453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0000" y="5832000"/>
            <a:ext cx="10753200" cy="432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5A636B"/>
                </a:solidFill>
                <a:latin typeface="Pretendard"/>
              </a:rPr>
              <a:t>전체 </a:t>
            </a:r>
            <a:r>
              <a:rPr sz="1900" b="1">
                <a:solidFill>
                  <a:srgbClr val="D55E00"/>
                </a:solidFill>
                <a:latin typeface="Pretendard"/>
              </a:rPr>
              <a:t>-0.079</a:t>
            </a:r>
            <a:r>
              <a:rPr sz="1600" b="0">
                <a:solidFill>
                  <a:srgbClr val="5A636B"/>
                </a:solidFill>
                <a:latin typeface="Pretendard"/>
              </a:rPr>
              <a:t>     골격 통제 </a:t>
            </a:r>
            <a:r>
              <a:rPr sz="1900" b="1">
                <a:solidFill>
                  <a:srgbClr val="D55E00"/>
                </a:solidFill>
                <a:latin typeface="Pretendard"/>
              </a:rPr>
              <a:t>-0.105</a:t>
            </a:r>
            <a:r>
              <a:rPr sz="1600" b="0">
                <a:solidFill>
                  <a:srgbClr val="5A636B"/>
                </a:solidFill>
                <a:latin typeface="Pretendard"/>
              </a:rPr>
              <a:t>     골격+크기 </a:t>
            </a:r>
            <a:r>
              <a:rPr sz="1900" b="1">
                <a:solidFill>
                  <a:srgbClr val="D55E00"/>
                </a:solidFill>
                <a:latin typeface="Pretendard"/>
              </a:rPr>
              <a:t>-0.088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결과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한 대역만 유의하지만, 그 신호는 칸 하나에 얹혀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440000"/>
            <a:ext cx="3680400" cy="792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009E73"/>
                </a:solidFill>
                <a:latin typeface="Pretendard"/>
              </a:rPr>
              <a:t>-0.397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2160000"/>
            <a:ext cx="3680400" cy="36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5A636B"/>
                </a:solidFill>
                <a:latin typeface="Pretendard"/>
              </a:rPr>
              <a:t>near 대역 ρ   (p = 0.00365)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6400" y="1440000"/>
            <a:ext cx="3680400" cy="792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D55E00"/>
                </a:solidFill>
                <a:latin typeface="Pretendard"/>
              </a:rPr>
              <a:t>0.792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6400" y="2160000"/>
            <a:ext cx="3680400" cy="36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5A636B"/>
                </a:solidFill>
                <a:latin typeface="Pretendard"/>
              </a:rPr>
              <a:t>AUC   95% CI [0.64, 0.95]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6800" y="1440000"/>
            <a:ext cx="3680400" cy="792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D55E00"/>
                </a:solidFill>
                <a:latin typeface="Pretendard"/>
              </a:rPr>
              <a:t>-0.219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6800" y="2160000"/>
            <a:ext cx="3680400" cy="36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5A636B"/>
                </a:solidFill>
                <a:latin typeface="Pretendard"/>
              </a:rPr>
              <a:t>전수 칸 제외 시 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2000" y="2808000"/>
            <a:ext cx="10609200" cy="1224000"/>
          </a:xfrm>
          <a:prstGeom prst="roundRect">
            <a:avLst/>
          </a:prstGeom>
          <a:solidFill>
            <a:srgbClr val="FDF0E6"/>
          </a:solidFill>
          <a:ln w="20320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8000" y="2952000"/>
            <a:ext cx="10177200" cy="1008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D55E00"/>
                </a:solidFill>
                <a:latin typeface="Pretendard"/>
              </a:rPr>
              <a:t>이 결과에 무게를 실을 수 없다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(a) AUC 신뢰구간이 사전 기준 0.7 을 포함한다   (b) 전수(census)인 약함 칸을 빼면 유의하지 않다   (c) 그 칸의 역가가 어세이 바닥값에 몰려 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2000" y="4248000"/>
            <a:ext cx="10609200" cy="1440000"/>
          </a:xfrm>
          <a:prstGeom prst="roundRect">
            <a:avLst/>
          </a:prstGeom>
          <a:solidFill>
            <a:srgbClr val="F3F5F7"/>
          </a:solidFill>
          <a:ln w="1778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8000" y="4392000"/>
            <a:ext cx="10177200" cy="1224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0B2A4A"/>
                </a:solidFill>
                <a:latin typeface="Pretendard"/>
              </a:rPr>
              <a:t>그리고 대역별 자세 타당도가 해석을 다시 제한한다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Pretendard"/>
              </a:rPr>
              <a:t>mid 31.4%   ·   near 25.0% 만 2 Å 기준 안에 있다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A636B"/>
                </a:solidFill>
                <a:latin typeface="Pretendard"/>
              </a:rPr>
              <a:t>far 대역은 공유 부분구조가 평균 10.6원자(하한 8)라 이 지표 자체가 성립하지 않아 값을 내지 않았다. 이 지표는 “자세가 맞는가” 가 아니라 “공유 부분구조가 공결정 리간드 위에 겹치는가” 를 잰다.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별개 질문 — 비재현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다른 질문 — n=30 의 −0.538 은 어디서 왔나 (우리 초안의 답도 틀렸다)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1368000"/>
            <a:ext cx="10753200" cy="61200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1440000"/>
            <a:ext cx="4680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Pretendard"/>
              </a:rPr>
              <a:t>① 옛 데이터에 골격 통제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88000" y="1440000"/>
            <a:ext cx="295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D55E00"/>
                </a:solidFill>
                <a:latin typeface="Pretendard"/>
              </a:rPr>
              <a:t>-0.538 → -0.532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84000" y="1440000"/>
            <a:ext cx="2664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5A636B"/>
                </a:solidFill>
                <a:latin typeface="Pretendard"/>
              </a:rPr>
              <a:t>감쇠 1.2%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0000" y="2052000"/>
            <a:ext cx="107532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2124000"/>
            <a:ext cx="4680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Pretendard"/>
              </a:rPr>
              <a:t>② 옛 데이터의 점수 vs Tanimoto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88000" y="2124000"/>
            <a:ext cx="295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D55E00"/>
                </a:solidFill>
                <a:latin typeface="Pretendard"/>
              </a:rPr>
              <a:t>-0.131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84000" y="2124000"/>
            <a:ext cx="2664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5A636B"/>
                </a:solidFill>
                <a:latin typeface="Pretendard"/>
              </a:rPr>
              <a:t>p = 0.48923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000" y="2736000"/>
            <a:ext cx="10753200" cy="612000"/>
          </a:xfrm>
          <a:prstGeom prst="rect">
            <a:avLst/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808000"/>
            <a:ext cx="4680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Pretendard"/>
              </a:rPr>
              <a:t>③ 옛 설계를 새 데이터에 재현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88000" y="2808000"/>
            <a:ext cx="295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D55E00"/>
                </a:solidFill>
                <a:latin typeface="Pretendard"/>
              </a:rPr>
              <a:t>중앙값 -0.148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84000" y="2808000"/>
            <a:ext cx="2664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5A636B"/>
                </a:solidFill>
                <a:latin typeface="Pretendard"/>
              </a:rPr>
              <a:t>−0.4 미만 4.7%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000" y="3420000"/>
            <a:ext cx="10753200" cy="6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000" y="3492000"/>
            <a:ext cx="4680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Pretendard"/>
              </a:rPr>
              <a:t>④ 옛 30건을 새 프로토콜로 재도킹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88000" y="3492000"/>
            <a:ext cx="2952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D55E00"/>
                </a:solidFill>
                <a:latin typeface="Pretendard"/>
              </a:rPr>
              <a:t>-0.538 → -0.527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84000" y="3492000"/>
            <a:ext cx="2664000" cy="468000"/>
          </a:xfrm>
          <a:prstGeom prst="rect">
            <a:avLst/>
          </a:prstGeom>
          <a:noFill/>
        </p:spPr>
        <p:txBody>
          <a:bodyPr wrap="square" anchor="ctr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>
                <a:solidFill>
                  <a:srgbClr val="5A636B"/>
                </a:solidFill>
                <a:latin typeface="Pretendard"/>
              </a:rPr>
              <a:t>점수 상관 +0.997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0000" y="4248000"/>
            <a:ext cx="10753200" cy="1440000"/>
          </a:xfrm>
          <a:prstGeom prst="roundRect">
            <a:avLst/>
          </a:prstGeom>
          <a:solidFill>
            <a:srgbClr val="F3F5F7"/>
          </a:solidFill>
          <a:ln w="2032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6000" y="4392000"/>
            <a:ext cx="10321200" cy="1224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2A4A"/>
                </a:solidFill>
                <a:latin typeface="Pretendard"/>
              </a:rPr>
              <a:t>이 판본의 초안은 “골격 교란 때문” 이라고 적었다. 검정해 보니 1.2% 였다.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네 검정이 모두 후보를 배제한다. 원인은 그 화합물 집합 자체이며, 어떤 성질 때문인지는 이 데이터로 더 좁히지 못했다 — 그렇게 적었다.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4000" y="216000"/>
            <a:ext cx="4320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072B2"/>
                </a:solidFill>
                <a:latin typeface="Pretendard"/>
              </a:rPr>
              <a:t>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000" y="432000"/>
            <a:ext cx="1118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0B2A4A"/>
                </a:solidFill>
                <a:latin typeface="Pretendard"/>
              </a:rPr>
              <a:t>무엇을 말할 수 있고, 무엇이 남았나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57200" y="6462000"/>
            <a:ext cx="576000" cy="21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0">
                <a:solidFill>
                  <a:srgbClr val="5A636B"/>
                </a:solidFill>
                <a:latin typeface="Pretendard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0000" y="1368000"/>
            <a:ext cx="5268600" cy="2016000"/>
          </a:xfrm>
          <a:prstGeom prst="roundRect">
            <a:avLst/>
          </a:prstGeom>
          <a:solidFill>
            <a:srgbClr val="F3F5F7"/>
          </a:solidFill>
          <a:ln w="1778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6000" y="1512000"/>
            <a:ext cx="4836600" cy="180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250"/>
              </a:spcAft>
            </a:pPr>
            <a:r>
              <a:rPr sz="1800" b="1">
                <a:solidFill>
                  <a:srgbClr val="009E73"/>
                </a:solidFill>
                <a:latin typeface="Pretendard"/>
              </a:rPr>
              <a:t>실험으로 제거한 것</a:t>
            </a:r>
          </a:p>
          <a:p>
            <a:pPr algn="l">
              <a:spcAft>
                <a:spcPts val="250"/>
              </a:spcAft>
            </a:pPr>
            <a:r>
              <a:rPr sz="1500" b="1">
                <a:solidFill>
                  <a:srgbClr val="1A1A1A"/>
                </a:solidFill>
                <a:latin typeface="Pretendard"/>
              </a:rPr>
              <a:t>C2 자세순위 실패의 원인 2개</a:t>
            </a:r>
          </a:p>
          <a:p>
            <a:pPr algn="l">
              <a:spcAft>
                <a:spcPts val="250"/>
              </a:spcAft>
            </a:pPr>
            <a:r>
              <a:rPr sz="1400" b="0">
                <a:solidFill>
                  <a:srgbClr val="5A636B"/>
                </a:solidFill>
                <a:latin typeface="Pretendard"/>
              </a:rPr>
              <a:t>   탐색 깊이 · 프로토네이션</a:t>
            </a:r>
          </a:p>
          <a:p>
            <a:pPr algn="l">
              <a:spcAft>
                <a:spcPts val="250"/>
              </a:spcAft>
            </a:pPr>
            <a:r>
              <a:rPr sz="1500" b="1">
                <a:solidFill>
                  <a:srgbClr val="1A1A1A"/>
                </a:solidFill>
                <a:latin typeface="Pretendard"/>
              </a:rPr>
              <a:t>n=30 비재현의 설명 2개</a:t>
            </a:r>
          </a:p>
          <a:p>
            <a:pPr algn="l">
              <a:spcAft>
                <a:spcPts val="250"/>
              </a:spcAft>
            </a:pPr>
            <a:r>
              <a:rPr sz="1400" b="0">
                <a:solidFill>
                  <a:srgbClr val="5A636B"/>
                </a:solidFill>
                <a:latin typeface="Pretendard"/>
              </a:rPr>
              <a:t>   골격 교란 · 프로토콜 차이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4600" y="1368000"/>
            <a:ext cx="5268600" cy="2016000"/>
          </a:xfrm>
          <a:prstGeom prst="roundRect">
            <a:avLst/>
          </a:prstGeom>
          <a:solidFill>
            <a:srgbClr val="F3F5F7"/>
          </a:solidFill>
          <a:ln w="17780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20600" y="1512000"/>
            <a:ext cx="4836600" cy="180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250"/>
              </a:spcAft>
            </a:pPr>
            <a:r>
              <a:rPr sz="1800" b="1">
                <a:solidFill>
                  <a:srgbClr val="D55E00"/>
                </a:solidFill>
                <a:latin typeface="Pretendard"/>
              </a:rPr>
              <a:t>아직 배제하지 못한 것</a:t>
            </a:r>
          </a:p>
          <a:p>
            <a:pPr algn="l">
              <a:spcAft>
                <a:spcPts val="25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물 전량 제거 · 강체 수용체</a:t>
            </a:r>
          </a:p>
          <a:p>
            <a:pPr algn="l">
              <a:spcAft>
                <a:spcPts val="250"/>
              </a:spcAft>
            </a:pPr>
            <a:r>
              <a:rPr sz="1500" b="0">
                <a:solidFill>
                  <a:srgbClr val="1A1A1A"/>
                </a:solidFill>
                <a:latin typeface="Pretendard"/>
              </a:rPr>
              <a:t>단일 배좌 · holo 유도적합 편향</a:t>
            </a:r>
          </a:p>
          <a:p>
            <a:pPr algn="l">
              <a:spcAft>
                <a:spcPts val="250"/>
              </a:spcAft>
            </a:pPr>
            <a:r>
              <a:rPr sz="1500" b="1">
                <a:solidFill>
                  <a:srgbClr val="1A1A1A"/>
                </a:solidFill>
                <a:latin typeface="Pretendard"/>
              </a:rPr>
              <a:t>그리고 채점 함수 자체</a:t>
            </a:r>
          </a:p>
          <a:p>
            <a:pPr algn="l">
              <a:spcAft>
                <a:spcPts val="250"/>
              </a:spcAft>
            </a:pPr>
            <a:r>
              <a:rPr sz="1400" b="0">
                <a:solidFill>
                  <a:srgbClr val="5A636B"/>
                </a:solidFill>
                <a:latin typeface="Pretendard"/>
              </a:rPr>
              <a:t>   이들은 검정하지 않았다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3528000"/>
            <a:ext cx="10753200" cy="36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B2A4A"/>
                </a:solidFill>
                <a:latin typeface="Pretendard"/>
              </a:rPr>
              <a:t>두 갈래는 서로 다른 현상이다 — 하나로 세지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0000" y="4032000"/>
            <a:ext cx="10753200" cy="1656000"/>
          </a:xfrm>
          <a:prstGeom prst="roundRect">
            <a:avLst/>
          </a:prstGeom>
          <a:solidFill>
            <a:srgbClr val="E8F4EF"/>
          </a:solidFill>
          <a:ln w="2286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6000" y="4176000"/>
            <a:ext cx="10321200" cy="144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>
                <a:solidFill>
                  <a:srgbClr val="009E73"/>
                </a:solidFill>
                <a:latin typeface="Pretendard"/>
              </a:rPr>
              <a:t>가져가실 것 셋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Pretendard"/>
              </a:rPr>
              <a:t>①  재도킹 대조를 C1/C2 로 쪼개고 깊이를 흔들어 병목을 특정하라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Pretendard"/>
              </a:rPr>
              <a:t>②  점수를 매긴 자세가 어디에 놓였는지 먼저 보고하라 — 여기서는 28% 였다</a:t>
            </a:r>
          </a:p>
          <a:p>
            <a:pPr algn="l">
              <a:spcAft>
                <a:spcPts val="300"/>
              </a:spcAft>
            </a:pPr>
            <a:r>
              <a:rPr sz="1600" b="0">
                <a:solidFill>
                  <a:srgbClr val="1A1A1A"/>
                </a:solidFill>
                <a:latin typeface="Pretendard"/>
              </a:rPr>
              <a:t>③  벤치마크의 골격 분포를 통제하라 (다만 여기서 그 통제가 바꾼 몫은 거의 0 이었다)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4000" y="1656000"/>
            <a:ext cx="10465200" cy="864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같은 데이터로 세 판본, 세 결론.
매번 게이트는 전부 통과했다.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000" y="3312000"/>
            <a:ext cx="10465200" cy="720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9FC5E0"/>
                </a:solidFill>
                <a:latin typeface="Pretendard"/>
              </a:rPr>
              <a:t>방금 보신 11번 슬라이드가 그 세 번째입니다 — 이 판본의 초안도 틀렸고, 그걸 잡은 것은 자동 검증이 아니라 외부 비평이었습니다.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000" y="4248000"/>
            <a:ext cx="10465200" cy="504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Pretendard"/>
              </a:rPr>
              <a:t>게이트는 수치가 산출되었는지를 검사할 뿐, 결론이 데이터에서 따라 나오는지는 검사하지 못한다.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5256000"/>
            <a:ext cx="10465200" cy="576000"/>
          </a:xfrm>
          <a:prstGeom prst="rect">
            <a:avLst/>
          </a:prstGeom>
          <a:noFill/>
        </p:spPr>
        <p:txBody>
          <a:bodyPr wrap="square" anchor="t" lIns="36000" rIns="3600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9FC5E0"/>
                </a:solidFill>
                <a:latin typeface="Pretendard"/>
              </a:rPr>
              <a:t>세 판본의 차이와 리뷰 기록 전부 공개</a:t>
            </a:r>
          </a:p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Pretendard"/>
              </a:rPr>
              <a:t>github.com/fourmodern/2026_aidrugdiscovery → Day06_LLM_Agent/pde5_harness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