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도킹 점수는 역가를 보는가, 골격을 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5E0"/>
                </a:solidFill>
                <a:latin typeface="Malgun Gothic"/>
              </a:rPr>
              <a:t>골격 유사성을 설계로 분리한 PDE5A 재채점 연구 (n=163)</a:t>
            </a:r>
          </a:p>
        </p:txBody>
      </p:sp>
      <p:pic>
        <p:nvPicPr>
          <p:cNvPr id="5" name="Picture 4" descr="fig0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4292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그래픽 초록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질문, 설계, 대조, 판정, 주 결과를 한 장에 담았다.</a:t>
            </a:r>
          </a:p>
        </p:txBody>
      </p:sp>
      <p:pic>
        <p:nvPicPr>
          <p:cNvPr id="6" name="Picture 5" descr="fig0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487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데이터셋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역가 분포, (B) 골격 유사도 분포, (C) 두 축의 직교성, (D) 화합물당 반복 측정 수.</a:t>
            </a:r>
          </a:p>
        </p:txBody>
      </p:sp>
      <p:pic>
        <p:nvPicPr>
          <p:cNvPr id="6" name="Picture 5" descr="fig02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141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재도킹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모드별 결정 자세 재현도, (B) 두 대조의 판정.</a:t>
            </a:r>
          </a:p>
        </p:txBody>
      </p:sp>
      <p:pic>
        <p:nvPicPr>
          <p:cNvPr id="6" name="Picture 5" descr="fig03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5062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탐색 깊이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깊이별 C1·C2, (B) 최고 점수, (C) 시드별 통과율.</a:t>
            </a:r>
          </a:p>
        </p:txBody>
      </p:sp>
      <p:pic>
        <p:nvPicPr>
          <p:cNvPr id="6" name="Picture 5" descr="fig08_exhaus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810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도킹 점수 대 실측 역가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왼쪽은 전체, 나머지는 유사도 구간별.</a:t>
            </a:r>
          </a:p>
        </p:txBody>
      </p:sp>
      <p:pic>
        <p:nvPicPr>
          <p:cNvPr id="6" name="Picture 5" descr="fig04_score_vs_po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335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통제 전후 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막대는 95% Fisher 신뢰구간.</a:t>
            </a:r>
          </a:p>
        </p:txBody>
      </p:sp>
      <p:pic>
        <p:nvPicPr>
          <p:cNvPr id="6" name="Picture 5" descr="fig05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5538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ROC 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전체, (B) 유사도 구간별.</a:t>
            </a:r>
          </a:p>
        </p:txBody>
      </p:sp>
      <p:pic>
        <p:nvPicPr>
          <p:cNvPr id="6" name="Picture 5" descr="fig0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5585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농축 곡선과 상위 10%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오른쪽 패널이 핵심이다 — 상위권이 역가로 채워지는지 골격 유사도로 채워지는지 직접 보여준다.</a:t>
            </a:r>
          </a:p>
        </p:txBody>
      </p:sp>
      <p:pic>
        <p:nvPicPr>
          <p:cNvPr id="6" name="Picture 5" descr="fig07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5867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항 기여도 네 가지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지표마다 다른 답을 준다면 그 사실이 결과다.</a:t>
            </a:r>
          </a:p>
        </p:txBody>
      </p:sp>
      <p:pic>
        <p:nvPicPr>
          <p:cNvPr id="6" name="Picture 5" descr="fig09_term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3457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항 상관·골격 연관·모델 비교</a:t>
            </a:r>
          </a:p>
        </p:txBody>
      </p:sp>
      <p:pic>
        <p:nvPicPr>
          <p:cNvPr id="5" name="Picture 4" descr="fig10_terms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102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두 자세 규칙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공결정 리간드와의 거리 분포, (B) 상관 비교.</a:t>
            </a:r>
          </a:p>
        </p:txBody>
      </p:sp>
      <p:pic>
        <p:nvPicPr>
          <p:cNvPr id="6" name="Picture 5" descr="fig11_pose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925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채점 함수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두 팔의 held-out 상관, (B) 차이의 부트스트랩 신뢰구간, (C) 같은 화합물의 두 점수.</a:t>
            </a:r>
          </a:p>
        </p:txBody>
      </p:sp>
      <p:pic>
        <p:nvPicPr>
          <p:cNvPr id="6" name="Picture 5" descr="fig13_custom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37429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결합 부위와 자세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(위) 수용체 카툰과 포켓 위치, (아래) 포켓 근접 — 결정 자세(회색)와 점수 1위 도킹 자세(색), 극성 접촉. 이 자세는 공결정 리간드를 참조하지 않고 채점 함수만으로 뽑힌 것이다.</a:t>
            </a:r>
          </a:p>
        </p:txBody>
      </p:sp>
      <p:pic>
        <p:nvPicPr>
          <p:cNvPr id="6" name="Picture 5" descr="fig7_bind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그림</a:t>
            </a:r>
          </a:p>
        </p:txBody>
      </p:sp>
      <p:pic>
        <p:nvPicPr>
          <p:cNvPr id="5" name="Picture 4" descr="fig8_binding_p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판본별 결론과 그것을 무너뜨린 관찰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36B"/>
                </a:solidFill>
                <a:latin typeface="Malgun Gothic"/>
              </a:rPr>
              <a:t>(A) 판본별 헤드라인 수치, (B) 각 판본의 결론과 붕괴 사유, (C) 무엇이 오류를 잡았는가. 자동 게이트는 세 판본 모두 전부 통과했다.</a:t>
            </a:r>
          </a:p>
        </p:txBody>
      </p:sp>
      <p:pic>
        <p:nvPicPr>
          <p:cNvPr id="6" name="Picture 5" descr="fig12_vers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4298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화합물 물성 실계산값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algun Gothic"/>
                        </a:rPr>
                        <a:t>판정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재도킹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-9.6 kcal/mol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C1 샘플링 (상위 모드 최선 RMSD)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1.077 Å (모드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C2 채점 (1위 자세 RMSD)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8.368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Malgun Gothic"/>
                        </a:rPr>
                        <a:t>FAIL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815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QED 내림차순 상위 6건. 값은 전부 RDKit 산출값이며 사람이 적은 수치가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이 실행이 말하지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1.  대조군이 없다.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문서-전용 조건을 실행하지 않았으므로 '문서보다 코드가 낫다'는 비교 주장은 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2.  수정 후에도 selectivity 검사 5개가 이 실행에서는 공허하게 통과한다.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     파이프라인이 SMILES 를 넘기지 않아 입력 의존 검사가 발동하지 않는다.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3.  단일 실행이며 반복이 없다. 통계 추론을 하지 않았다.</a:t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0B2A4A"/>
                </a:solidFill>
                <a:latin typeface="Malgun Gothic"/>
              </a:rPr>
              <a:t>4.  화합물 10건은 정렬 미지정 조회의 앞부분이고 단일 화학형 계열에 가깝다.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게이트 통과는 규약 준수를 뜻할 뿐 화합물이 유망하다는 뜻이 아니다.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Malgun Gothic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1.  자세 생성은 작동했고 채점이 작동하지 않았다.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단, 호출자가 반환값을 검사할 때만이다. 본 실행에서는 4단계 중 3단계만 그랬다.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2.  강제되었다고 기준이 옳은 것은 아니다.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이번 실행에서 통과·탈락을 가른 것은 QED 임계 0.5 하나였다.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/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3.  임계값은 근거와 함께 명시적으로 정해야 한다.</a:t>
            </a:r>
          </a:p>
          <a:p>
            <a:pPr algn="l"/>
            <a:r>
              <a:rPr sz="1400" b="0">
                <a:solidFill>
                  <a:srgbClr val="0B2A4A"/>
                </a:solidFill>
                <a:latin typeface="Malgun Gothic"/>
              </a:rPr>
              <a:t>     스크립트가 스스로 '데모 임계(교육용)'라고 밝힌 값이다.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Malgun Gothic"/>
              </a:rPr>
              <a:t>본 보고의 결과 수치는 도구 산출값이다. 서술문과 절 제목은 사람이 작성했다.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