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6000" cy="4824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504000"/>
            <a:ext cx="28116000" cy="1512000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7800" b="1">
                <a:solidFill>
                  <a:srgbClr val="FFFFFF"/>
                </a:solidFill>
                <a:latin typeface="Pretendard"/>
              </a:rPr>
              <a:t>골격 유사성과 역가를 직교화한 PDE5A 도킹 재평가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160000"/>
            <a:ext cx="28116000" cy="792000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>
                <a:solidFill>
                  <a:srgbClr val="9FC5E0"/>
                </a:solidFill>
                <a:latin typeface="Pretendard"/>
              </a:rPr>
              <a:t>선행 상관의 재현 실패, 그리고 자세 타당도가 정하는 해석의 상한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168000"/>
            <a:ext cx="28116000" cy="648000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0">
                <a:solidFill>
                  <a:srgbClr val="7FA8C8"/>
                </a:solidFill>
                <a:latin typeface="Pretendard"/>
              </a:rPr>
              <a:t>Orthogonalizing scaffold similarity and potency in a PDE5A docking benchmark: non-replication of a prior score–potency 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960000"/>
            <a:ext cx="28116000" cy="576000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0">
                <a:solidFill>
                  <a:srgbClr val="9FC5E0"/>
                </a:solidFill>
                <a:latin typeface="Pretendard"/>
              </a:rPr>
              <a:t>smina / AutoDock Vina 1.1.2   ·   PDB 1UDT   ·   ChEMBL PDE5A (n = 163)   ·   전 산출물·코드·리뷰 기록 공개: github.com/fourmodern/2026_aidrugdiscovery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5256000"/>
            <a:ext cx="28116000" cy="2160000"/>
          </a:xfrm>
          <a:prstGeom prst="roundRect">
            <a:avLst/>
          </a:prstGeom>
          <a:solidFill>
            <a:srgbClr val="FDF0E6"/>
          </a:solidFill>
          <a:ln w="3048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000" y="5472000"/>
            <a:ext cx="27396000" cy="864000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D55E00"/>
                </a:solidFill>
                <a:latin typeface="Pretendard"/>
              </a:rPr>
              <a:t>골격을 분리하자 도킹 점수와 역가의 상관이 사라졌다    ρ = -0.079   (95% CI -0.23 ~ +0.08,  p = 0.31878)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6480000"/>
            <a:ext cx="27396000" cy="792000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A1A1A"/>
                </a:solidFill>
                <a:latin typeface="Pretendard"/>
              </a:rPr>
              <a:t>n = 30 에서 얻었던 ρ = -0.538 는 재현되지 않았고, 그 이유로 제시했던 골격 교란 설명마저 검정 결과 기각되었다 (옛 데이터에서 골격 통제 시 감쇠 1.2%)</a:t>
            </a:r>
          </a:p>
        </p:txBody>
      </p:sp>
      <p:pic>
        <p:nvPicPr>
          <p:cNvPr id="11" name="Picture 10" descr="fig01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7632000"/>
            <a:ext cx="28116000" cy="99265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80000" y="17810568"/>
            <a:ext cx="8844000" cy="612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0000" y="17864568"/>
            <a:ext cx="648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6000" y="17864568"/>
            <a:ext cx="7764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배경과 목적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18638568"/>
            <a:ext cx="8844000" cy="4320417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도킹 평가는 보통 활성 화합물을 모아 점수와 역가의 상관 하나를 보고한다. 그런데 표적 좌표는 대개 어떤 리간드가 결합한 채로 풀린 holo 구조이고, 그 리간드를 닮은 화합물은</a:t>
            </a:r>
          </a:p>
          <a:p>
            <a:pPr algn="l">
              <a:spcAft>
                <a:spcPts val="500"/>
              </a:spcAft>
            </a:pPr>
            <a:r>
              <a:rPr sz="2500" b="1">
                <a:solidFill>
                  <a:srgbClr val="0072B2"/>
                </a:solidFill>
                <a:latin typeface="Pretendard"/>
              </a:rPr>
              <a:t>① 유도적합된 포켓에 잘 맞아 점수가 좋고   ② 같은 계열의 최적화 산물이라 대체로 더 강력하다.</a:t>
            </a:r>
          </a:p>
          <a:p>
            <a:pPr algn="l">
              <a:spcAft>
                <a:spcPts val="50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두 경로의 방향이 같으므로 상관은 관찰되지만, 그것이 채점 함수의 능력인지 표적 구조 선택의 부산물인지 구분되지 않는다. 비활성 대비 편향은 널리 논의됐지만(DUD-E, LIT-PCBA), 활성 집합 내부의 골격 분포가 상관을 얼마나 만드는지는 정량된 적이 거의 없다.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0000" y="23174985"/>
            <a:ext cx="8844000" cy="3517391"/>
          </a:xfrm>
          <a:prstGeom prst="roundRect">
            <a:avLst/>
          </a:prstGeom>
          <a:solidFill>
            <a:srgbClr val="F2F4F6"/>
          </a:solidFill>
          <a:ln w="1524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6000" y="23390985"/>
            <a:ext cx="8412000" cy="3085391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0072B2"/>
                </a:solidFill>
                <a:latin typeface="Pretendard"/>
              </a:rPr>
              <a:t>연구 목적</a:t>
            </a:r>
          </a:p>
          <a:p>
            <a:pPr algn="l">
              <a:spcAft>
                <a:spcPts val="40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1.  역가를 정량 예측하는가</a:t>
            </a:r>
            <a:r>
              <a:rPr sz="2500" b="0">
                <a:solidFill>
                  <a:srgbClr val="5A636B"/>
                </a:solidFill>
                <a:latin typeface="Pretendard"/>
              </a:rPr>
              <a:t>   →  Q² ≥ 0.3</a:t>
            </a:r>
          </a:p>
          <a:p>
            <a:pPr algn="l">
              <a:spcAft>
                <a:spcPts val="40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2.  강한 화합물을 선별하는가</a:t>
            </a:r>
            <a:r>
              <a:rPr sz="2500" b="0">
                <a:solidFill>
                  <a:srgbClr val="5A636B"/>
                </a:solidFill>
                <a:latin typeface="Pretendard"/>
              </a:rPr>
              <a:t>   →  p &lt; 0.05 &amp; AUC ≥ 0.7</a:t>
            </a:r>
          </a:p>
          <a:p>
            <a:pPr algn="l">
              <a:spcAft>
                <a:spcPts val="40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3.  골격 통제 후에도 남는가</a:t>
            </a:r>
            <a:r>
              <a:rPr sz="2500" b="0">
                <a:solidFill>
                  <a:srgbClr val="5A636B"/>
                </a:solidFill>
                <a:latin typeface="Pretendard"/>
              </a:rPr>
              <a:t>   →  편상관 60% 유지</a:t>
            </a:r>
          </a:p>
          <a:p>
            <a:pPr algn="l">
              <a:spcAft>
                <a:spcPts val="40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4.  대조 실패 시 무엇이 병목인가</a:t>
            </a:r>
            <a:r>
              <a:rPr sz="2500" b="0">
                <a:solidFill>
                  <a:srgbClr val="5A636B"/>
                </a:solidFill>
                <a:latin typeface="Pretendard"/>
              </a:rPr>
              <a:t>   →  후보를 실험으로 제거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" y="26908377"/>
            <a:ext cx="8844000" cy="612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0000" y="26962377"/>
            <a:ext cx="648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6000" y="26962377"/>
            <a:ext cx="7764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설계 — 두 축의 직교화</a:t>
            </a:r>
          </a:p>
        </p:txBody>
      </p:sp>
      <p:pic>
        <p:nvPicPr>
          <p:cNvPr id="21" name="Picture 20" descr="fig02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27736377"/>
            <a:ext cx="8844000" cy="2767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0000" y="30683817"/>
            <a:ext cx="8844000" cy="2427998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ChEMBL PDE5A 활성 2538 레코드 전수 → 화합물당 중앙값 집계(2158종) → 역가 3구간 × 실데나필 Tanimoto 3구간의 9칸 격자에서 균등 추출.</a:t>
            </a:r>
          </a:p>
          <a:p>
            <a:pPr algn="l">
              <a:spcAft>
                <a:spcPts val="400"/>
              </a:spcAft>
            </a:pPr>
            <a:r>
              <a:rPr sz="2500" b="1">
                <a:solidFill>
                  <a:srgbClr val="009E73"/>
                </a:solidFill>
                <a:latin typeface="Pretendard"/>
              </a:rPr>
              <a:t>교란 상관을 Pearson +0.175 까지 낮췄다 (역가로만 층화한 옛 설계: +0.281).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33327815"/>
            <a:ext cx="8844000" cy="2446033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B2A4A"/>
                </a:solidFill>
                <a:latin typeface="Pretendard"/>
              </a:rPr>
              <a:t>도킹</a:t>
            </a:r>
          </a:p>
          <a:p>
            <a:pPr algn="l">
              <a:spcAft>
                <a:spcPts val="40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smina (AutoDock Vina 1.1.2 scoring), exhaustiveness 64, seed 42, num_modes 9, autobox_add 3. 163/163 성공. 자세는 공결정 리간드를 참조하지 않는 점수 1위를 주 결과로 썼다.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0000" y="35773849"/>
            <a:ext cx="8844000" cy="6120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0000" y="35827849"/>
            <a:ext cx="648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6000" y="35827849"/>
            <a:ext cx="7764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사전 기준 대비 판정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" y="36601849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0000" y="36637849"/>
            <a:ext cx="619079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① 정량 예측   Q² ≥ 0.3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0799" y="36637849"/>
            <a:ext cx="24732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-0.018   미달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000" y="37177849"/>
            <a:ext cx="8844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0000" y="37213849"/>
            <a:ext cx="619079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② 선별   AUC ≥ 0.7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0799" y="37213849"/>
            <a:ext cx="24732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0.574   미달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0000" y="37753849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60000" y="37789849"/>
            <a:ext cx="619079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② 선별   순열 p &lt; 0.05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0799" y="37789849"/>
            <a:ext cx="24732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0.31878   미달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0000" y="38329849"/>
            <a:ext cx="8844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60000" y="38365849"/>
            <a:ext cx="619079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③ 골격 통제 후 60% 유지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0799" y="38365849"/>
            <a:ext cx="24732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판정 불가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000" y="38905849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60000" y="38941849"/>
            <a:ext cx="619079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④ 병목 특정   후보 제거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70799" y="38941849"/>
            <a:ext cx="24732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009E73"/>
                </a:solidFill>
                <a:latin typeface="Pretendard"/>
              </a:rPr>
              <a:t>4건 제거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000" y="39697849"/>
            <a:ext cx="8844000" cy="829475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5A636B"/>
                </a:solidFill>
                <a:latin typeface="Pretendard"/>
              </a:rPr>
              <a:t>③ 은 원상관 자체가 유의하지 않아 “유지” 를 물을 수 없다. ④ 는 두 갈래에서 각각 2건씩이며 하나로 세지 않는다.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15999" y="17810568"/>
            <a:ext cx="8844000" cy="612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95999" y="17864568"/>
            <a:ext cx="648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51999" y="17864568"/>
            <a:ext cx="7764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재도킹 대조 — 병목 찾기</a:t>
            </a:r>
          </a:p>
        </p:txBody>
      </p:sp>
      <p:pic>
        <p:nvPicPr>
          <p:cNvPr id="46" name="Picture 45" descr="fig03_con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999" y="18638568"/>
            <a:ext cx="8844000" cy="4330725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10715999" y="23149293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95999" y="23185293"/>
            <a:ext cx="4422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C1  샘플링 (상위 모드 최선)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137999" y="23185293"/>
            <a:ext cx="4242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009E73"/>
                </a:solidFill>
                <a:latin typeface="Pretendard"/>
              </a:rPr>
              <a:t>1.08 Å  PASS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15999" y="23725293"/>
            <a:ext cx="8844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95999" y="23761293"/>
            <a:ext cx="4422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C2  채점 (점수 1위 자세)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137999" y="23761293"/>
            <a:ext cx="4242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8.37 Å  FAIL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15999" y="24517293"/>
            <a:ext cx="8844000" cy="973756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탐색은 결정 자세를 찾아낸다. 채점이 그것을 1위로 올리지 못한다. 두 대조를 합쳐 하나의 숫자로 보고하면 이 구분이 사라진다.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715999" y="25707049"/>
            <a:ext cx="8844000" cy="6120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95999" y="25761049"/>
            <a:ext cx="648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51999" y="25761049"/>
            <a:ext cx="7764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C2 실패 원인을 실험으로 제거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715999" y="26535049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95999" y="26571049"/>
            <a:ext cx="530639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탐색 깊이 4 → 128 (32배)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22399" y="26571049"/>
            <a:ext cx="33576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009E73"/>
                </a:solidFill>
                <a:latin typeface="Pretendard"/>
              </a:rPr>
              <a:t>C2 전 구간 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715999" y="27111049"/>
            <a:ext cx="8844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95999" y="27147049"/>
            <a:ext cx="530639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프로토네이션 2×2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22399" y="27147049"/>
            <a:ext cx="33576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009E73"/>
                </a:solidFill>
                <a:latin typeface="Pretendard"/>
              </a:rPr>
              <a:t>4 조건 점수 동일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15999" y="27903049"/>
            <a:ext cx="8844000" cy="1424635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프로토네이션이 왜 무효였는지까지 확인했다. </a:t>
            </a:r>
            <a:r>
              <a:rPr sz="2500" b="1">
                <a:solidFill>
                  <a:srgbClr val="D55E00"/>
                </a:solidFill>
                <a:latin typeface="Pretendard"/>
              </a:rPr>
              <a:t>기본 Vina 함수에는 정전기 항이 없다</a:t>
            </a:r>
            <a:r>
              <a:rPr sz="2500" b="0">
                <a:solidFill>
                  <a:srgbClr val="1A1A1A"/>
                </a:solidFill>
                <a:latin typeface="Pretendard"/>
              </a:rPr>
              <a:t> — 형식전하는 점수에 닿지 못하고, 바뀐 수소결합 타이핑도 그 질소가 결합 거리 밖이라 항 값이 움직이지 않았다.</a:t>
            </a:r>
          </a:p>
        </p:txBody>
      </p:sp>
      <p:pic>
        <p:nvPicPr>
          <p:cNvPr id="64" name="Picture 63" descr="fig08_exhaustive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999" y="29543685"/>
            <a:ext cx="8844000" cy="3239388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10715999" y="32963073"/>
            <a:ext cx="8844000" cy="612000"/>
          </a:xfrm>
          <a:prstGeom prst="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95999" y="33017073"/>
            <a:ext cx="648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51999" y="33017073"/>
            <a:ext cx="7764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별개 질문 — 비재현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15999" y="33791073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895999" y="33827073"/>
            <a:ext cx="548328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골격 교란 (옛 데이터에 통제)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199279" y="33827073"/>
            <a:ext cx="318071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5A636B"/>
                </a:solidFill>
                <a:latin typeface="Pretendard"/>
              </a:rPr>
              <a:t>감쇠 1.2%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15999" y="34367073"/>
            <a:ext cx="8844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95999" y="34403073"/>
            <a:ext cx="548328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프로토콜 (옛 30건 재도킹)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199279" y="34403073"/>
            <a:ext cx="318071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5A636B"/>
                </a:solidFill>
                <a:latin typeface="Pretendard"/>
              </a:rPr>
              <a:t>점수 상관 +0.997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15999" y="35159073"/>
            <a:ext cx="8844000" cy="1424635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n=30 의 </a:t>
            </a:r>
            <a:r>
              <a:rPr sz="2500" b="1">
                <a:solidFill>
                  <a:srgbClr val="1A1A1A"/>
                </a:solidFill>
                <a:latin typeface="Pretendard"/>
              </a:rPr>
              <a:t>ρ = -0.538</a:t>
            </a:r>
            <a:r>
              <a:rPr sz="2500" b="0">
                <a:solidFill>
                  <a:srgbClr val="1A1A1A"/>
                </a:solidFill>
                <a:latin typeface="Pretendard"/>
              </a:rPr>
              <a:t> 는 재현되지 않았다. 초안은 골격 교란 때문이라 적었으나 검정 결과 기각됐다. </a:t>
            </a:r>
            <a:r>
              <a:rPr sz="2500" b="1">
                <a:solidFill>
                  <a:srgbClr val="D55E00"/>
                </a:solidFill>
                <a:latin typeface="Pretendard"/>
              </a:rPr>
              <a:t>위 두 검정은 C2 실패가 아니라 이 비재현을 대상으로 한 것</a:t>
            </a:r>
            <a:r>
              <a:rPr sz="2500" b="0">
                <a:solidFill>
                  <a:srgbClr val="1A1A1A"/>
                </a:solidFill>
                <a:latin typeface="Pretendard"/>
              </a:rPr>
              <a:t>이며, 4번 절의 두 검정과 하나로 세지 말아야 한다.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351999" y="17810568"/>
            <a:ext cx="8844000" cy="612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531999" y="17864568"/>
            <a:ext cx="648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287999" y="17864568"/>
            <a:ext cx="7764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결과 — 골격 통제 후</a:t>
            </a:r>
          </a:p>
        </p:txBody>
      </p:sp>
      <p:pic>
        <p:nvPicPr>
          <p:cNvPr id="78" name="Picture 77" descr="fig05_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94199" y="18638568"/>
            <a:ext cx="7959600" cy="4367365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20351999" y="23185933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531999" y="23221933"/>
            <a:ext cx="512951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전체 순위상관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481519" y="23221933"/>
            <a:ext cx="353448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-0.079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351999" y="23761933"/>
            <a:ext cx="8844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31999" y="23797933"/>
            <a:ext cx="512951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골격 통제 편상관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481519" y="23797933"/>
            <a:ext cx="353448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-0.105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351999" y="24337933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531999" y="24373933"/>
            <a:ext cx="512951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골격+크기 동시 통제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481519" y="24373933"/>
            <a:ext cx="353448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-0.088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351999" y="24913933"/>
            <a:ext cx="8844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31999" y="24949933"/>
            <a:ext cx="512951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교차검증 Q² (단일 점수)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481519" y="24949933"/>
            <a:ext cx="353448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-0.018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351999" y="25705933"/>
            <a:ext cx="8844000" cy="973756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5A636B"/>
                </a:solidFill>
                <a:latin typeface="Pretendard"/>
              </a:rPr>
              <a:t>위 넷은 모두 상관·Q² 값이다. </a:t>
            </a:r>
            <a:r>
              <a:rPr sz="2500" b="1">
                <a:solidFill>
                  <a:srgbClr val="D55E00"/>
                </a:solidFill>
                <a:latin typeface="Pretendard"/>
              </a:rPr>
              <a:t>순열 검정 p = 0.31878</a:t>
            </a:r>
            <a:r>
              <a:rPr sz="2100" b="0">
                <a:solidFill>
                  <a:srgbClr val="5A636B"/>
                </a:solidFill>
                <a:latin typeface="Pretendard"/>
              </a:rPr>
              <a:t> 로 유의하지 않다.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351999" y="26823689"/>
            <a:ext cx="8844000" cy="1424635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near 대역만 유의하다 (ρ = -0.397, p = 0.00365). </a:t>
            </a:r>
            <a:r>
              <a:rPr sz="2500" b="1">
                <a:solidFill>
                  <a:srgbClr val="D55E00"/>
                </a:solidFill>
                <a:latin typeface="Pretendard"/>
              </a:rPr>
              <a:t>가설로만 남긴다</a:t>
            </a:r>
            <a:r>
              <a:rPr sz="2500" b="0">
                <a:solidFill>
                  <a:srgbClr val="1A1A1A"/>
                </a:solidFill>
                <a:latin typeface="Pretendard"/>
              </a:rPr>
              <a:t> — AUC 신뢰구간 [0.64, 0.95] 이 기준 0.7 을 포함하고, 전수 칸을 빼면 -0.219 로 떨어진다.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0351999" y="28392325"/>
            <a:ext cx="8844000" cy="6120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531999" y="28446325"/>
            <a:ext cx="648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6b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287999" y="28446325"/>
            <a:ext cx="7764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해석의 상한 — 자세 타당도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0351999" y="29220325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531999" y="29256325"/>
            <a:ext cx="548328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1위 자세 MCS-RMSD 중앙값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835279" y="29256325"/>
            <a:ext cx="318071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4.50 Å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351999" y="29796325"/>
            <a:ext cx="8844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0531999" y="29832325"/>
            <a:ext cx="548328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2 Å 기준 통과 (전체)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835279" y="29832325"/>
            <a:ext cx="318071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19.0%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0351999" y="30372325"/>
            <a:ext cx="8844000" cy="576000"/>
          </a:xfrm>
          <a:prstGeom prst="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0531999" y="30408325"/>
            <a:ext cx="548328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1A1A1A"/>
                </a:solidFill>
                <a:latin typeface="Pretendard"/>
              </a:rPr>
              <a:t>far 대역 통과율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835279" y="30408325"/>
            <a:ext cx="3180719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900" b="1">
                <a:solidFill>
                  <a:srgbClr val="D55E00"/>
                </a:solidFill>
                <a:latin typeface="Pretendard"/>
              </a:rPr>
              <a:t>1.8%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351999" y="31164325"/>
            <a:ext cx="8844000" cy="973756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1A1A1A"/>
                </a:solidFill>
                <a:latin typeface="Pretendard"/>
              </a:rPr>
              <a:t>점수를 매긴 자세의 81% 가 C2 를 실패시킨 것과 같은 기준 밖이다 — 이것이 모든 상관 해석의 상한이다.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351999" y="32282081"/>
            <a:ext cx="8844000" cy="612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531999" y="32336081"/>
            <a:ext cx="648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287999" y="32336081"/>
            <a:ext cx="7764000" cy="504000"/>
          </a:xfrm>
          <a:prstGeom prst="rect">
            <a:avLst/>
          </a:prstGeom>
          <a:noFill/>
        </p:spPr>
        <p:txBody>
          <a:bodyPr wrap="square" anchor="ctr" lIns="54000" rIns="5400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0351999" y="33110081"/>
            <a:ext cx="8844000" cy="7778510"/>
          </a:xfrm>
          <a:prstGeom prst="roundRect">
            <a:avLst/>
          </a:prstGeom>
          <a:solidFill>
            <a:srgbClr val="F2F4F6"/>
          </a:solidFill>
          <a:ln w="2032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0567999" y="33326081"/>
            <a:ext cx="8412000" cy="7346510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A1A1A"/>
                </a:solidFill>
                <a:latin typeface="Pretendard"/>
              </a:rPr>
              <a:t>· 정량 예측은 실패했다.</a:t>
            </a:r>
            <a:r>
              <a:rPr sz="2500" b="0">
                <a:solidFill>
                  <a:srgbClr val="1A1A1A"/>
                </a:solidFill>
                <a:latin typeface="Pretendard"/>
              </a:rPr>
              <a:t> Q² 는 세 모델 모두 0 근처로 기준 0.3 에 한참 미달한다.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1A1A1A"/>
                </a:solidFill>
                <a:latin typeface="Pretendard"/>
              </a:rPr>
              <a:t>· 선별도 전체적으로는 작동하지 않았다.</a:t>
            </a:r>
            <a:r>
              <a:rPr sz="2500" b="0">
                <a:solidFill>
                  <a:srgbClr val="1A1A1A"/>
                </a:solidFill>
                <a:latin typeface="Pretendard"/>
              </a:rPr>
              <a:t> 한 대역의 신호는 전수 칸 하나에 얹혀 있다.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1A1A1A"/>
                </a:solidFill>
                <a:latin typeface="Pretendard"/>
              </a:rPr>
              <a:t>· 두 갈래에서 각각 두 후보씩 제거했다.</a:t>
            </a:r>
            <a:r>
              <a:rPr sz="2500" b="0">
                <a:solidFill>
                  <a:srgbClr val="1A1A1A"/>
                </a:solidFill>
                <a:latin typeface="Pretendard"/>
              </a:rPr>
              <a:t> C2 실패는 탐색 깊이·프로토네이션, 비재현은 골격 교란·프로토콜. 남은 것은 물 제거·강체 수용체·단일 배좌·holo 편향·채점 함수 자체다.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009E73"/>
                </a:solidFill>
                <a:latin typeface="Pretendard"/>
              </a:rPr>
              <a:t>· 벤치마크의 골격 분포를 통제하라.</a:t>
            </a:r>
            <a:r>
              <a:rPr sz="2500" b="0">
                <a:solidFill>
                  <a:srgbClr val="1A1A1A"/>
                </a:solidFill>
                <a:latin typeface="Pretendard"/>
              </a:rPr>
              <a:t> 다만 여기서 그 통제가 바꾼 몫은 거의 0 이었다.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009E73"/>
                </a:solidFill>
                <a:latin typeface="Pretendard"/>
              </a:rPr>
              <a:t>· 자세가 어디에 놓였는지 먼저 보고하라.</a:t>
            </a:r>
            <a:r>
              <a:rPr sz="2500" b="0">
                <a:solidFill>
                  <a:srgbClr val="1A1A1A"/>
                </a:solidFill>
                <a:latin typeface="Pretendard"/>
              </a:rPr>
              <a:t> 그 비율 없이 상관값만 보면 무엇을 측정했는지 알 수 없다.</a:t>
            </a:r>
          </a:p>
          <a:p>
            <a:pPr algn="l">
              <a:spcAft>
                <a:spcPts val="600"/>
              </a:spcAft>
            </a:pPr>
            <a:r>
              <a:rPr sz="2700" b="1">
                <a:solidFill>
                  <a:srgbClr val="0B2A4A"/>
                </a:solidFill>
                <a:latin typeface="Pretendard"/>
              </a:rPr>
              <a:t>· “신호 없음” 은 귀무를 채택한 것이 아니다.</a:t>
            </a:r>
            <a:r>
              <a:rPr sz="2500" b="0">
                <a:solidFill>
                  <a:srgbClr val="1A1A1A"/>
                </a:solidFill>
                <a:latin typeface="Pretendard"/>
              </a:rPr>
              <a:t> 신뢰구간 상한이 +0.08 이므로 |ρ| ≲ 0.23 인 관계는 배제하지 못한다. 기각하지 못한 것이지 없다고 보인 것이 아니다.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0" y="41652000"/>
            <a:ext cx="30276000" cy="1152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80000" y="41868000"/>
            <a:ext cx="28116000" cy="324000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9FC5E0"/>
                </a:solidFill>
                <a:latin typeface="Pretendard"/>
              </a:rPr>
              <a:t>이 연구는 교육 목적의 시연이며 임상·규제 판단의 근거로 사용할 수 없다.   데이터: ChEMBL (CC BY-SA 3.0) · RCSB PDB.   도구: AutoDock Vina (Apache-2.0) · smina (GPL-2.0) · RDKit (BSD-3) · Open Babel (GPL-2.0) · PyMOL.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0000" y="42228000"/>
            <a:ext cx="28116000" cy="360000"/>
          </a:xfrm>
          <a:prstGeom prst="rect">
            <a:avLst/>
          </a:prstGeom>
          <a:noFill/>
        </p:spPr>
        <p:txBody>
          <a:bodyPr wrap="square" anchor="t" lIns="54000" rIns="5400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Pretendard"/>
              </a:rPr>
              <a:t>전 산출물·코드·리뷰 기록 공개  ·  github.com/fourmodern/2026_aidrugdiscovery → Day06_LLM_Agent/pde5_harness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