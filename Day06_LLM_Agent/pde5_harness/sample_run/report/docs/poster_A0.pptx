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76000" cy="4824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0000" y="504000"/>
            <a:ext cx="28116000" cy="1512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0" b="1">
                <a:solidFill>
                  <a:srgbClr val="FFFFFF"/>
                </a:solidFill>
                <a:latin typeface="Pretendard"/>
              </a:rPr>
              <a:t>골격 유사성과 역가를 직교화한 PDE5A 도킹 재평가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2160000"/>
            <a:ext cx="28116000" cy="792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0">
                <a:solidFill>
                  <a:srgbClr val="9FC5E0"/>
                </a:solidFill>
                <a:latin typeface="Pretendard"/>
              </a:rPr>
              <a:t>선행 상관의 재현 실패, 그리고 자세 타당도가 정하는 해석의 상한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3168000"/>
            <a:ext cx="28116000" cy="648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0">
                <a:solidFill>
                  <a:srgbClr val="7FA8C8"/>
                </a:solidFill>
                <a:latin typeface="Pretendard"/>
              </a:rPr>
              <a:t>Orthogonalizing scaffold similarity and potency in a PDE5A docking benchmark: non-replication of a prior score–potency correlation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3960000"/>
            <a:ext cx="28116000" cy="576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0">
                <a:solidFill>
                  <a:srgbClr val="9FC5E0"/>
                </a:solidFill>
                <a:latin typeface="Pretendard"/>
              </a:rPr>
              <a:t>smina / AutoDock Vina 1.1.2   ·   PDB 1UDT   ·   ChEMBL PDE5A (n = 163)   ·   전 산출물·코드·리뷰 기록 공개: github.com/fourmodern/2026_aidrugdiscovery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0000" y="5256000"/>
            <a:ext cx="28116000" cy="2160000"/>
          </a:xfrm>
          <a:prstGeom prst="roundRect">
            <a:avLst/>
          </a:prstGeom>
          <a:solidFill>
            <a:srgbClr val="FDF0E6"/>
          </a:solidFill>
          <a:ln w="30480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0000" y="5472000"/>
            <a:ext cx="27396000" cy="864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>
                <a:solidFill>
                  <a:srgbClr val="D55E00"/>
                </a:solidFill>
                <a:latin typeface="Pretendard"/>
              </a:rPr>
              <a:t>골격을 분리하자 도킹 점수와 역가의 상관이 사라졌다    ρ = -0.079   (95% CI -0.23 ~ +0.08,  p = 0.31878)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0000" y="6480000"/>
            <a:ext cx="27396000" cy="720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n = 30 에서 얻었던 ρ = -0.538 는 재현되지 않았고, 그 이유로 제시했던 골격 교란 설명마저 검정 결과 기각되었다 (옛 데이터에서 골격 통제 시 감쇠 1.2%)</a:t>
            </a:r>
          </a:p>
        </p:txBody>
      </p:sp>
      <p:pic>
        <p:nvPicPr>
          <p:cNvPr id="11" name="Picture 10" descr="fig01_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0" y="7632000"/>
            <a:ext cx="28116000" cy="10198007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080000" y="18082007"/>
            <a:ext cx="8844000" cy="612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0000" y="18136007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6000" y="18136007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배경과 목적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18910006"/>
            <a:ext cx="8844000" cy="4320417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도킹 평가는 보통 활성 화합물을 모아 점수와 역가의 상관 하나를 보고한다. 그런데 표적 좌표는 대개 어떤 리간드가 결합한 채로 풀린 holo 구조이고, 그 리간드를 닮은 화합물은</a:t>
            </a:r>
          </a:p>
          <a:p>
            <a:pPr algn="l">
              <a:spcAft>
                <a:spcPts val="500"/>
              </a:spcAft>
            </a:pPr>
            <a:r>
              <a:rPr sz="2500" b="1">
                <a:solidFill>
                  <a:srgbClr val="0072B2"/>
                </a:solidFill>
                <a:latin typeface="Pretendard"/>
              </a:rPr>
              <a:t>① 유도적합된 포켓에 잘 맞아 점수가 좋고   ② 같은 계열의 최적화 산물이라 대체로 더 강력하다.</a:t>
            </a:r>
          </a:p>
          <a:p>
            <a:pPr algn="l">
              <a:spcAft>
                <a:spcPts val="5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두 경로의 방향이 같으므로 상관은 관찰되지만, 그것이 채점 함수의 능력인지 표적 구조 선택의 부산물인지 구분되지 않는다. 비활성 대비 편향은 널리 논의됐지만(DUD-E, LIT-PCBA), 활성 집합 내부의 골격 분포가 상관을 얼마나 만드는지는 정량된 적이 거의 없다.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0000" y="23446424"/>
            <a:ext cx="8844000" cy="3517391"/>
          </a:xfrm>
          <a:prstGeom prst="roundRect">
            <a:avLst/>
          </a:prstGeom>
          <a:solidFill>
            <a:srgbClr val="F2F4F6"/>
          </a:solidFill>
          <a:ln w="1524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6000" y="23662424"/>
            <a:ext cx="8412000" cy="3085391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072B2"/>
                </a:solidFill>
                <a:latin typeface="Pretendard"/>
              </a:rPr>
              <a:t>연구 목적</a:t>
            </a:r>
          </a:p>
          <a:p>
            <a:pPr algn="l">
              <a:spcAft>
                <a:spcPts val="4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1.  역가를 정량 예측하는가</a:t>
            </a:r>
            <a:r>
              <a:rPr sz="2500" b="0">
                <a:solidFill>
                  <a:srgbClr val="5A636B"/>
                </a:solidFill>
                <a:latin typeface="Pretendard"/>
              </a:rPr>
              <a:t>   →  Q² ≥ 0.3</a:t>
            </a:r>
          </a:p>
          <a:p>
            <a:pPr algn="l">
              <a:spcAft>
                <a:spcPts val="4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2.  강한 화합물을 선별하는가</a:t>
            </a:r>
            <a:r>
              <a:rPr sz="2500" b="0">
                <a:solidFill>
                  <a:srgbClr val="5A636B"/>
                </a:solidFill>
                <a:latin typeface="Pretendard"/>
              </a:rPr>
              <a:t>   →  p &lt; 0.05 &amp; AUC ≥ 0.7</a:t>
            </a:r>
          </a:p>
          <a:p>
            <a:pPr algn="l">
              <a:spcAft>
                <a:spcPts val="4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3.  골격 통제 후에도 남는가</a:t>
            </a:r>
            <a:r>
              <a:rPr sz="2500" b="0">
                <a:solidFill>
                  <a:srgbClr val="5A636B"/>
                </a:solidFill>
                <a:latin typeface="Pretendard"/>
              </a:rPr>
              <a:t>   →  편상관 60% 유지</a:t>
            </a:r>
          </a:p>
          <a:p>
            <a:pPr algn="l">
              <a:spcAft>
                <a:spcPts val="4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4.  대조 실패 시 무엇이 병목인가</a:t>
            </a:r>
            <a:r>
              <a:rPr sz="2500" b="0">
                <a:solidFill>
                  <a:srgbClr val="5A636B"/>
                </a:solidFill>
                <a:latin typeface="Pretendard"/>
              </a:rPr>
              <a:t>   →  후보를 실험으로 제거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0000" y="27179816"/>
            <a:ext cx="8844000" cy="612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60000" y="27233816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6000" y="27233816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설계 — 두 축의 직교화</a:t>
            </a:r>
          </a:p>
        </p:txBody>
      </p:sp>
      <p:pic>
        <p:nvPicPr>
          <p:cNvPr id="21" name="Picture 20" descr="fig02_data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000" y="28007816"/>
            <a:ext cx="8844000" cy="27674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80000" y="30955256"/>
            <a:ext cx="8844000" cy="2427998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ChEMBL PDE5A 활성 2538 레코드 전수 → 화합물당 중앙값 집계(2158종) → 역가 3구간 × 실데나필 Tanimoto 3구간의 9칸 격자에서 균등 추출.</a:t>
            </a:r>
          </a:p>
          <a:p>
            <a:pPr algn="l">
              <a:spcAft>
                <a:spcPts val="400"/>
              </a:spcAft>
            </a:pPr>
            <a:r>
              <a:rPr sz="2500" b="1">
                <a:solidFill>
                  <a:srgbClr val="009E73"/>
                </a:solidFill>
                <a:latin typeface="Pretendard"/>
              </a:rPr>
              <a:t>교란 상관을 Pearson +0.175 까지 낮췄다 (역가로만 층화한 옛 설계: +0.281).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000" y="33599254"/>
            <a:ext cx="8844000" cy="2446033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B2A4A"/>
                </a:solidFill>
                <a:latin typeface="Pretendard"/>
              </a:rPr>
              <a:t>도킹</a:t>
            </a:r>
          </a:p>
          <a:p>
            <a:pPr algn="l">
              <a:spcAft>
                <a:spcPts val="4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smina (AutoDock Vina 1.1.2 scoring), exhaustiveness 64, seed 42, num_modes 9, autobox_add 3. 163/163 성공. 자세는 공결정 리간드를 참조하지 않는 점수 1위를 주 결과로 썼다.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715999" y="18082007"/>
            <a:ext cx="8844000" cy="612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95999" y="18136007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51999" y="18136007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재도킹 대조 — 병목 찾기</a:t>
            </a:r>
          </a:p>
        </p:txBody>
      </p:sp>
      <p:pic>
        <p:nvPicPr>
          <p:cNvPr id="27" name="Picture 26" descr="fig03_contr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5999" y="18910006"/>
            <a:ext cx="8844000" cy="4330725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10715999" y="23420731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95999" y="23456731"/>
            <a:ext cx="4422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C1  샘플링 (상위 모드 최선)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137999" y="23456731"/>
            <a:ext cx="4242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009E73"/>
                </a:solidFill>
                <a:latin typeface="Pretendard"/>
              </a:rPr>
              <a:t>1.08 Å  PASS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715999" y="23996731"/>
            <a:ext cx="8844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95999" y="24032731"/>
            <a:ext cx="4422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C2  채점 (점수 1위 자세)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137999" y="24032731"/>
            <a:ext cx="4242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8.37 Å  FAIL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15999" y="24788731"/>
            <a:ext cx="8844000" cy="973756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탐색은 결정 자세를 찾아낸다. 채점이 그것을 1위로 올리지 못한다. 두 대조를 합쳐 하나의 숫자로 보고하면 이 구분이 사라진다.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715999" y="25978488"/>
            <a:ext cx="8844000" cy="612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95999" y="26032488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651999" y="26032488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원인 후보를 실험으로 제거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715999" y="26806488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95999" y="26842488"/>
            <a:ext cx="51295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탐색 깊이 4 → 128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845520" y="26842488"/>
            <a:ext cx="35344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009E73"/>
                </a:solidFill>
                <a:latin typeface="Pretendard"/>
              </a:rPr>
              <a:t>C2 0% 고정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715999" y="27382488"/>
            <a:ext cx="8844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895999" y="27418488"/>
            <a:ext cx="51295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프로토네이션 2×2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845520" y="27418488"/>
            <a:ext cx="35344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009E73"/>
                </a:solidFill>
                <a:latin typeface="Pretendard"/>
              </a:rPr>
              <a:t>4 조건 점수 동일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715999" y="27958488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95999" y="27994488"/>
            <a:ext cx="51295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골격 교란 (옛 데이터)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845520" y="27994488"/>
            <a:ext cx="35344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009E73"/>
                </a:solidFill>
                <a:latin typeface="Pretendard"/>
              </a:rPr>
              <a:t>감쇠 1.2%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715999" y="28534488"/>
            <a:ext cx="8844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895999" y="28570488"/>
            <a:ext cx="51295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프로토콜 (옛 30건 재도킹)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845520" y="28570488"/>
            <a:ext cx="35344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009E73"/>
                </a:solidFill>
                <a:latin typeface="Pretendard"/>
              </a:rPr>
              <a:t>점수 상관 +0.997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15999" y="29326488"/>
            <a:ext cx="8844000" cy="1424635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프로토네이션이 왜 무효였는지까지 확인했다. </a:t>
            </a:r>
            <a:r>
              <a:rPr sz="2500" b="1">
                <a:solidFill>
                  <a:srgbClr val="D55E00"/>
                </a:solidFill>
                <a:latin typeface="Pretendard"/>
              </a:rPr>
              <a:t>기본 Vina 함수에는 정전기 항이 없다</a:t>
            </a:r>
            <a:r>
              <a:rPr sz="2500" b="0">
                <a:solidFill>
                  <a:srgbClr val="1A1A1A"/>
                </a:solidFill>
                <a:latin typeface="Pretendard"/>
              </a:rPr>
              <a:t> — 형식전하는 점수에 닿지 못하고, 바뀐 수소결합 타이핑도 그 질소가 결합 거리 밖이라 항 값이 움직이지 않았다.</a:t>
            </a:r>
          </a:p>
        </p:txBody>
      </p:sp>
      <p:pic>
        <p:nvPicPr>
          <p:cNvPr id="51" name="Picture 50" descr="fig08_exhaustiven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5999" y="30967124"/>
            <a:ext cx="8844000" cy="3239388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20351999" y="18082007"/>
            <a:ext cx="8844000" cy="612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31999" y="18136007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287999" y="18136007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결과 — 골격 통제 후</a:t>
            </a:r>
          </a:p>
        </p:txBody>
      </p:sp>
      <p:pic>
        <p:nvPicPr>
          <p:cNvPr id="55" name="Picture 54" descr="fig05_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51999" y="18910006"/>
            <a:ext cx="8844000" cy="4852628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20351999" y="23942635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31999" y="23978635"/>
            <a:ext cx="51295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전체 순위상관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481519" y="23978635"/>
            <a:ext cx="35344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-0.079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0351999" y="24518635"/>
            <a:ext cx="8844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31999" y="24554635"/>
            <a:ext cx="51295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골격 통제 편상관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481519" y="24554635"/>
            <a:ext cx="35344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-0.105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351999" y="25094635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531999" y="25130635"/>
            <a:ext cx="51295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골격+크기 동시 통제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519" y="25130635"/>
            <a:ext cx="35344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-0.088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351999" y="25670635"/>
            <a:ext cx="8844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531999" y="25706635"/>
            <a:ext cx="51295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교차검증 Q² (단일 점수)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481519" y="25706635"/>
            <a:ext cx="35344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-0.018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351999" y="26246635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531999" y="26282635"/>
            <a:ext cx="51295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순열 검정 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481519" y="26282635"/>
            <a:ext cx="35344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0.31878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351999" y="27038635"/>
            <a:ext cx="8844000" cy="1875513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near 대역만 유의하다 (ρ = -0.397, p = 0.00365). </a:t>
            </a:r>
            <a:r>
              <a:rPr sz="2500" b="1">
                <a:solidFill>
                  <a:srgbClr val="D55E00"/>
                </a:solidFill>
                <a:latin typeface="Pretendard"/>
              </a:rPr>
              <a:t>그러나 가설로만 남긴다</a:t>
            </a:r>
            <a:r>
              <a:rPr sz="2500" b="0">
                <a:solidFill>
                  <a:srgbClr val="1A1A1A"/>
                </a:solidFill>
                <a:latin typeface="Pretendard"/>
              </a:rPr>
              <a:t> — AUC 0.792 의 신뢰구간 [0.64, 0.95] 이 기준 0.7 을 포함하고, 전수(census)인 약함 칸을 빼면 상관이 -0.219 로 떨어진다.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351999" y="29130148"/>
            <a:ext cx="8844000" cy="612000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531999" y="29184148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287999" y="29184148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해석의 상한 — 자세 타당도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351999" y="29958148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0531999" y="29994148"/>
            <a:ext cx="54832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1위 자세 MCS-RMSD 중앙값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835279" y="29994148"/>
            <a:ext cx="31807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4.50 Å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351999" y="30534148"/>
            <a:ext cx="8844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531999" y="30570148"/>
            <a:ext cx="54832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2 Å 기준 통과 (전체)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835279" y="30570148"/>
            <a:ext cx="31807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19.0%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0351999" y="31110148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531999" y="31146148"/>
            <a:ext cx="54832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far 대역 통과율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5835279" y="31146148"/>
            <a:ext cx="31807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1.8%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351999" y="31902148"/>
            <a:ext cx="8844000" cy="1424635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점수를 매긴 자세의 81% 가 C2 를 실패시킨 것과 같은 기준 밖이다. “신호 없음” 은 대부분 틀린 자세에 매긴 점수에 대한 진술이며, 이것이 모든 상관 해석의 상한을 정한다.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0351999" y="33542783"/>
            <a:ext cx="8844000" cy="612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0531999" y="33596783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287999" y="33596783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결론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0351999" y="34370783"/>
            <a:ext cx="8844000" cy="5754510"/>
          </a:xfrm>
          <a:prstGeom prst="roundRect">
            <a:avLst/>
          </a:prstGeom>
          <a:solidFill>
            <a:srgbClr val="F2F4F6"/>
          </a:solidFill>
          <a:ln w="2032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567999" y="34586783"/>
            <a:ext cx="8412000" cy="532251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A1A1A"/>
                </a:solidFill>
                <a:latin typeface="Pretendard"/>
              </a:rPr>
              <a:t>· 정량 예측은 실패했다.</a:t>
            </a:r>
            <a:r>
              <a:rPr sz="2500" b="0">
                <a:solidFill>
                  <a:srgbClr val="1A1A1A"/>
                </a:solidFill>
                <a:latin typeface="Pretendard"/>
              </a:rPr>
              <a:t> Q² 는 세 모델 모두 0 근처로 기준 0.3 에 한참 미달한다.</a:t>
            </a:r>
          </a:p>
          <a:p>
            <a:pPr algn="l">
              <a:spcAft>
                <a:spcPts val="600"/>
              </a:spcAft>
            </a:pPr>
            <a:r>
              <a:rPr sz="2700" b="1">
                <a:solidFill>
                  <a:srgbClr val="1A1A1A"/>
                </a:solidFill>
                <a:latin typeface="Pretendard"/>
              </a:rPr>
              <a:t>· 선별도 전체적으로는 작동하지 않았다.</a:t>
            </a:r>
            <a:r>
              <a:rPr sz="2500" b="0">
                <a:solidFill>
                  <a:srgbClr val="1A1A1A"/>
                </a:solidFill>
                <a:latin typeface="Pretendard"/>
              </a:rPr>
              <a:t> 한 대역에서만 신호가 있고 그 신호는 전수 칸 하나에 얹혀 있다.</a:t>
            </a:r>
          </a:p>
          <a:p>
            <a:pPr algn="l">
              <a:spcAft>
                <a:spcPts val="600"/>
              </a:spcAft>
            </a:pPr>
            <a:r>
              <a:rPr sz="2700" b="1">
                <a:solidFill>
                  <a:srgbClr val="1A1A1A"/>
                </a:solidFill>
                <a:latin typeface="Pretendard"/>
              </a:rPr>
              <a:t>· 네 후보를 실험으로 제거했다.</a:t>
            </a:r>
            <a:r>
              <a:rPr sz="2500" b="0">
                <a:solidFill>
                  <a:srgbClr val="1A1A1A"/>
                </a:solidFill>
                <a:latin typeface="Pretendard"/>
              </a:rPr>
              <a:t> 남은 것은 물 제거·강체 수용체·단일 배좌·holo 편향·채점 함수 자체다.</a:t>
            </a:r>
          </a:p>
          <a:p>
            <a:pPr algn="l">
              <a:spcAft>
                <a:spcPts val="600"/>
              </a:spcAft>
            </a:pPr>
            <a:r>
              <a:rPr sz="2700" b="1">
                <a:solidFill>
                  <a:srgbClr val="009E73"/>
                </a:solidFill>
                <a:latin typeface="Pretendard"/>
              </a:rPr>
              <a:t>· 벤치마크의 골격 분포를 통제하라.</a:t>
            </a:r>
            <a:r>
              <a:rPr sz="2500" b="0">
                <a:solidFill>
                  <a:srgbClr val="1A1A1A"/>
                </a:solidFill>
                <a:latin typeface="Pretendard"/>
              </a:rPr>
              <a:t> 다만 본 연구에서 그 통제가 바꾼 몫은 거의 0 이었다는 사실도 함께 적어야 정직하다.</a:t>
            </a:r>
          </a:p>
          <a:p>
            <a:pPr algn="l">
              <a:spcAft>
                <a:spcPts val="600"/>
              </a:spcAft>
            </a:pPr>
            <a:r>
              <a:rPr sz="2700" b="1">
                <a:solidFill>
                  <a:srgbClr val="009E73"/>
                </a:solidFill>
                <a:latin typeface="Pretendard"/>
              </a:rPr>
              <a:t>· 자세가 어디에 놓였는지 먼저 보고하라.</a:t>
            </a:r>
            <a:r>
              <a:rPr sz="2500" b="0">
                <a:solidFill>
                  <a:srgbClr val="1A1A1A"/>
                </a:solidFill>
                <a:latin typeface="Pretendard"/>
              </a:rPr>
              <a:t> 그 비율 없이 상관값만 보면 무엇을 측정했는지 알 수 없다.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41652000"/>
            <a:ext cx="30276000" cy="1152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80000" y="41868000"/>
            <a:ext cx="28116000" cy="324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9FC5E0"/>
                </a:solidFill>
                <a:latin typeface="Pretendard"/>
              </a:rPr>
              <a:t>이 연구는 교육 목적의 시연이며 임상·규제 판단의 근거로 사용할 수 없다.   데이터: ChEMBL (CC BY-SA 3.0) · RCSB PDB.   도구: AutoDock Vina (Apache-2.0) · smina (GPL-2.0) · RDKit (BSD-3) · Open Babel (GPL-2.0) · PyMOL.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0000" y="42228000"/>
            <a:ext cx="28116000" cy="360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Pretendard"/>
              </a:rPr>
              <a:t>전 산출물·코드·리뷰 기록 공개  ·  github.com/fourmodern/2026_aidrugdiscovery → Day06_LLM_Agent/pde5_harness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