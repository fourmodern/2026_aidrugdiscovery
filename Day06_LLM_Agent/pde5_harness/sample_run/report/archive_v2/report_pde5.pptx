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도킹 점수는 PDE5A 저해제를 선별하는가, 정량하는가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5E0"/>
                </a:solidFill>
                <a:latin typeface="Malgun Gothic"/>
              </a:rPr>
              <a:t>우선순위 지표와 정량 예측을 분리한 결정 구조 기반 평가</a:t>
            </a:r>
          </a:p>
        </p:txBody>
      </p:sp>
      <p:pic>
        <p:nvPicPr>
          <p:cNvPr id="5" name="Picture 4" descr="fig1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10058400" cy="5753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그림</a:t>
            </a:r>
          </a:p>
        </p:txBody>
      </p:sp>
      <p:pic>
        <p:nvPicPr>
          <p:cNvPr id="5" name="Picture 4" descr="fig1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60149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표적 맥락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PDE5A 가 cGMP 를 분해하고 저해제가 이를 막는다. UniProt O76074 (PDE5A, 875 잔기). 수용체는 PDB 1UDT 이며 공결정 리간드는 VIA 다.</a:t>
            </a:r>
          </a:p>
        </p:txBody>
      </p:sp>
      <p:pic>
        <p:nvPicPr>
          <p:cNvPr id="6" name="Picture 5" descr="fig2_pat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5562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모드별 결정 자세 재현도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막대는 각 도킹 모드의 결정 자세 대비 RMSD 이며 가로축은 점수 순위다. 기준을 만족하는 자세가 존재하지만 1위가 아니다.</a:t>
            </a:r>
          </a:p>
        </p:txBody>
      </p:sp>
      <p:pic>
        <p:nvPicPr>
          <p:cNvPr id="6" name="Picture 5" descr="fig12_redock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3756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도킹 점수 대 실측 역가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색은 역가 층이다. 산점도의 흩어짐이 크다는 사실과 상위 구간에서 층이 분리된다는 사실이 함께 보인다.</a:t>
            </a:r>
          </a:p>
        </p:txBody>
      </p:sp>
      <p:pic>
        <p:nvPicPr>
          <p:cNvPr id="6" name="Picture 5" descr="fig10_score_vs_po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3752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회귀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점선은 라벨을 섞었을 때 얻어지는 R² 의 중앙값과 95 분위다. 항을 늘린 모델은 교차검증에서 음수 Q² 를 보인다.</a:t>
            </a:r>
          </a:p>
        </p:txBody>
      </p:sp>
      <p:pic>
        <p:nvPicPr>
          <p:cNvPr id="6" name="Picture 5" descr="fig11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106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결합 부위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수용체 카툰, 결정 자세(회색)와 도킹 자세(파랑).</a:t>
            </a:r>
          </a:p>
        </p:txBody>
      </p:sp>
      <p:pic>
        <p:nvPicPr>
          <p:cNvPr id="6" name="Picture 5" descr="fig7_bind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포켓 근접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접촉 잔기와 극성 접촉. 자세는 참조 기준으로 선택한 것이다.</a:t>
            </a:r>
          </a:p>
        </p:txBody>
      </p:sp>
      <p:pic>
        <p:nvPicPr>
          <p:cNvPr id="6" name="Picture 5" descr="fig8_binding_p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접촉 잔기 집계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CHEMBL410215 도킹 자세에서 4.0 Å 이내.</a:t>
            </a:r>
          </a:p>
        </p:txBody>
      </p:sp>
      <p:pic>
        <p:nvPicPr>
          <p:cNvPr id="6" name="Picture 5" descr="fig9_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1061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화합물 물성 실계산값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360170"/>
                <a:gridCol w="1360170"/>
                <a:gridCol w="1360170"/>
                <a:gridCol w="1360170"/>
                <a:gridCol w="1360170"/>
                <a:gridCol w="1360170"/>
                <a:gridCol w="136017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ChEMBL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IC50/Ki (nM)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pIC50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선택 자세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1위 자세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MCS-RMSD (Å)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CHEMBL410215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3.599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CHEMBL553075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2.675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CHEMBL361582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1.798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CHEMBL136498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8.76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-13.70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2.475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CHEMBL544310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8.57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-9.80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3.106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CHEMBL434135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-10.40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1.124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7880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QED 내림차순 상위 6건. 값은 전부 RDKit 산출값이며 사람이 적은 수치가 없다.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이 실행이 말하지 않는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1.  대조군이 없다.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     문서-전용 조건을 실행하지 않았으므로 '문서보다 코드가 낫다'는 비교 주장은 하지 않는다.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2.  수정 후에도 selectivity 검사 5개가 이 실행에서는 공허하게 통과한다.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     파이프라인이 SMILES 를 넘기지 않아 입력 의존 검사가 발동하지 않는다.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3.  단일 실행이며 반복이 없다. 통계 추론을 하지 않았다.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4.  화합물 10건은 정렬 미지정 조회의 앞부분이고 단일 화학형 계열에 가깝다.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게이트 통과는 규약 준수를 뜻할 뿐 화합물이 유망하다는 뜻이 아니다.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1.  자세 생성은 작동했고 채점이 작동하지 않았다.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     단, 호출자가 반환값을 검사할 때만이다. 본 실행에서는 4단계 중 3단계만 그랬다.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2.  강제되었다고 기준이 옳은 것은 아니다.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     이번 실행에서 통과·탈락을 가른 것은 QED 임계 0.5 하나였다.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3.  임계값은 근거와 함께 명시적으로 정해야 한다.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     스크립트가 스스로 '데모 임계(교육용)'라고 밝힌 값이다.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본 보고의 결과 수치는 도구 산출값이다. 서술문과 절 제목은 사람이 작성했다.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