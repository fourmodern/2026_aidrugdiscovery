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검증 게이트를 갖춘 신약탐색 에이전트 하네스의 단일 실행 기록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FC5E0"/>
                </a:solidFill>
                <a:latin typeface="Malgun Gothic"/>
              </a:rPr>
              <a:t>그리고 그 게이트 중 둘이 반증 불가능했다는 발견</a:t>
            </a:r>
          </a:p>
        </p:txBody>
      </p:sp>
      <p:pic>
        <p:nvPicPr>
          <p:cNvPr id="5" name="Picture 4" descr="fig1_graphic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965960"/>
            <a:ext cx="10058400" cy="575340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하네스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6B"/>
                </a:solidFill>
                <a:latin typeface="Malgun Gothic"/>
              </a:rPr>
              <a:t>계약 · 도구 · 봉투 · 게이트</a:t>
            </a:r>
          </a:p>
        </p:txBody>
      </p:sp>
      <p:pic>
        <p:nvPicPr>
          <p:cNvPr id="6" name="Picture 5" descr="fig2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10515600" cy="553516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물성 공간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6B"/>
                </a:solidFill>
                <a:latin typeface="Malgun Gothic"/>
              </a:rPr>
              <a:t>게이트 결과로 색을 나눈 실계산값</a:t>
            </a:r>
          </a:p>
        </p:txBody>
      </p:sp>
      <p:pic>
        <p:nvPicPr>
          <p:cNvPr id="6" name="Picture 5" descr="fig3_property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10515600" cy="378177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단계별 잔존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6B"/>
                </a:solidFill>
                <a:latin typeface="Malgun Gothic"/>
              </a:rPr>
              <a:t>앞의 두 조건은 아무것도 탈락시키지 않았다</a:t>
            </a:r>
          </a:p>
        </p:txBody>
      </p:sp>
      <p:pic>
        <p:nvPicPr>
          <p:cNvPr id="6" name="Picture 5" descr="fig4_gate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10515600" cy="384705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QED 임계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6B"/>
                </a:solidFill>
                <a:latin typeface="Malgun Gothic"/>
              </a:rPr>
              <a:t>임계 하나가 통과와 탈락을 갈랐다</a:t>
            </a:r>
          </a:p>
        </p:txBody>
      </p:sp>
      <p:pic>
        <p:nvPicPr>
          <p:cNvPr id="6" name="Picture 5" descr="fig5_qed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10515600" cy="37777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임계 민감도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6B"/>
                </a:solidFill>
                <a:latin typeface="Malgun Gothic"/>
              </a:rPr>
              <a:t>측정값은 그대로, 임계만 옮겨 재집계</a:t>
            </a:r>
          </a:p>
        </p:txBody>
      </p:sp>
      <p:pic>
        <p:nvPicPr>
          <p:cNvPr id="6" name="Picture 5" descr="fig6_threshold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10515600" cy="37145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화합물 물성 실계산값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10881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latin typeface="Malgun Gothic"/>
                        </a:rPr>
                        <a:t>검사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latin typeface="Malgun Gothic"/>
                        </a:rPr>
                        <a:t>실행 시점 강제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latin typeface="Malgun Gothic"/>
                        </a:rPr>
                        <a:t>근거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target-lookup 게이트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차단함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if env is None or not gate(...): return 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chembl-actives 게이트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차단함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동일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mol-properties 게이트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차단함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동일. 단 약물성 판정(gate_pass)은 verification.passed 에 포함되지 않아 10건 전부 탈락해도 이 단계는 통과한다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selectivity 게이트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차단하지 않았음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반환값을 버림 (if env is not None: gate(...))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selectivity 검사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반증 불가능했음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4개 항목이 전부 모듈 리터럴 상수를 읽음. 쓰레기 SMILES 입력으로도 passed=True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report 게이트 (numbers_backed)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실행되지 않음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실행 코드에 호출자 0곳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7880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6B"/>
                </a:solidFill>
                <a:latin typeface="Malgun Gothic"/>
              </a:rPr>
              <a:t>QED 내림차순 상위 6건. 값은 전부 RDKit 산출값이며 사람이 적은 수치가 없다.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이 실행이 말하지 않는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B2A4A"/>
                </a:solidFill>
                <a:latin typeface="Malgun Gothic"/>
              </a:rPr>
              <a:t>1.  대조군이 없다.</a:t>
            </a:r>
          </a:p>
          <a:p>
            <a:pPr algn="l"/>
            <a:r>
              <a:rPr sz="1300" b="0">
                <a:solidFill>
                  <a:srgbClr val="0B2A4A"/>
                </a:solidFill>
                <a:latin typeface="Malgun Gothic"/>
              </a:rPr>
              <a:t>     문서-전용 조건을 실행하지 않았으므로 '문서보다 코드가 낫다'는 비교 주장은 하지 않는다.</a:t>
            </a:r>
          </a:p>
          <a:p>
            <a:pPr algn="l"/>
            <a:r>
              <a:rPr sz="1300" b="0">
                <a:solidFill>
                  <a:srgbClr val="0B2A4A"/>
                </a:solidFill>
                <a:latin typeface="Malgun Gothic"/>
              </a:rPr>
              <a:t/>
            </a:r>
          </a:p>
          <a:p>
            <a:pPr algn="l"/>
            <a:r>
              <a:rPr sz="1300" b="0">
                <a:solidFill>
                  <a:srgbClr val="0B2A4A"/>
                </a:solidFill>
                <a:latin typeface="Malgun Gothic"/>
              </a:rPr>
              <a:t>2.  수정 후에도 selectivity 검사 5개가 이 실행에서는 공허하게 통과한다.</a:t>
            </a:r>
          </a:p>
          <a:p>
            <a:pPr algn="l"/>
            <a:r>
              <a:rPr sz="1300" b="0">
                <a:solidFill>
                  <a:srgbClr val="0B2A4A"/>
                </a:solidFill>
                <a:latin typeface="Malgun Gothic"/>
              </a:rPr>
              <a:t>     파이프라인이 SMILES 를 넘기지 않아 입력 의존 검사가 발동하지 않는다.</a:t>
            </a:r>
          </a:p>
          <a:p>
            <a:pPr algn="l"/>
            <a:r>
              <a:rPr sz="1300" b="0">
                <a:solidFill>
                  <a:srgbClr val="0B2A4A"/>
                </a:solidFill>
                <a:latin typeface="Malgun Gothic"/>
              </a:rPr>
              <a:t/>
            </a:r>
          </a:p>
          <a:p>
            <a:pPr algn="l"/>
            <a:r>
              <a:rPr sz="1300" b="0">
                <a:solidFill>
                  <a:srgbClr val="0B2A4A"/>
                </a:solidFill>
                <a:latin typeface="Malgun Gothic"/>
              </a:rPr>
              <a:t>3.  단일 실행이며 반복이 없다. 통계 추론을 하지 않았다.</a:t>
            </a:r>
          </a:p>
          <a:p>
            <a:pPr algn="l"/>
            <a:r>
              <a:rPr sz="1300" b="0">
                <a:solidFill>
                  <a:srgbClr val="0B2A4A"/>
                </a:solidFill>
                <a:latin typeface="Malgun Gothic"/>
              </a:rPr>
              <a:t/>
            </a:r>
          </a:p>
          <a:p>
            <a:pPr algn="l"/>
            <a:r>
              <a:rPr sz="1300" b="0">
                <a:solidFill>
                  <a:srgbClr val="0B2A4A"/>
                </a:solidFill>
                <a:latin typeface="Malgun Gothic"/>
              </a:rPr>
              <a:t>4.  화합물 10건은 정렬 미지정 조회의 앞부분이고 단일 화학형 계열에 가깝다.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6B"/>
                </a:solidFill>
                <a:latin typeface="Malgun Gothic"/>
              </a:rPr>
              <a:t>게이트 통과는 규약 준수를 뜻할 뿐 화합물이 유망하다는 뜻이 아니다.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B2A4A"/>
                </a:solidFill>
                <a:latin typeface="Malgun Gothic"/>
              </a:rPr>
              <a:t>1.  통과만 본 게이트는 검증된 것이 아니다.</a:t>
            </a:r>
          </a:p>
          <a:p>
            <a:pPr algn="l"/>
            <a:r>
              <a:rPr sz="1400" b="0">
                <a:solidFill>
                  <a:srgbClr val="0B2A4A"/>
                </a:solidFill>
                <a:latin typeface="Malgun Gothic"/>
              </a:rPr>
              <a:t>     단, 호출자가 반환값을 검사할 때만이다. 본 실행에서는 4단계 중 3단계만 그랬다.</a:t>
            </a:r>
          </a:p>
          <a:p>
            <a:pPr algn="l"/>
            <a:r>
              <a:rPr sz="1400" b="0">
                <a:solidFill>
                  <a:srgbClr val="0B2A4A"/>
                </a:solidFill>
                <a:latin typeface="Malgun Gothic"/>
              </a:rPr>
              <a:t/>
            </a:r>
          </a:p>
          <a:p>
            <a:pPr algn="l"/>
            <a:r>
              <a:rPr sz="1400" b="0">
                <a:solidFill>
                  <a:srgbClr val="0B2A4A"/>
                </a:solidFill>
                <a:latin typeface="Malgun Gothic"/>
              </a:rPr>
              <a:t>2.  강제되었다고 기준이 옳은 것은 아니다.</a:t>
            </a:r>
          </a:p>
          <a:p>
            <a:pPr algn="l"/>
            <a:r>
              <a:rPr sz="1400" b="0">
                <a:solidFill>
                  <a:srgbClr val="0B2A4A"/>
                </a:solidFill>
                <a:latin typeface="Malgun Gothic"/>
              </a:rPr>
              <a:t>     이번 실행에서 통과·탈락을 가른 것은 QED 임계 0.5 하나였다.</a:t>
            </a:r>
          </a:p>
          <a:p>
            <a:pPr algn="l"/>
            <a:r>
              <a:rPr sz="1400" b="0">
                <a:solidFill>
                  <a:srgbClr val="0B2A4A"/>
                </a:solidFill>
                <a:latin typeface="Malgun Gothic"/>
              </a:rPr>
              <a:t/>
            </a:r>
          </a:p>
          <a:p>
            <a:pPr algn="l"/>
            <a:r>
              <a:rPr sz="1400" b="0">
                <a:solidFill>
                  <a:srgbClr val="0B2A4A"/>
                </a:solidFill>
                <a:latin typeface="Malgun Gothic"/>
              </a:rPr>
              <a:t>3.  임계값은 근거와 함께 명시적으로 정해야 한다.</a:t>
            </a:r>
          </a:p>
          <a:p>
            <a:pPr algn="l"/>
            <a:r>
              <a:rPr sz="1400" b="0">
                <a:solidFill>
                  <a:srgbClr val="0B2A4A"/>
                </a:solidFill>
                <a:latin typeface="Malgun Gothic"/>
              </a:rPr>
              <a:t>     스크립트가 스스로 '데모 임계(교육용)'라고 밝힌 값이다.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6B"/>
                </a:solidFill>
                <a:latin typeface="Malgun Gothic"/>
              </a:rPr>
              <a:t>본 보고의 결과 수치는 도구 산출값이다. 서술문과 절 제목은 사람이 작성했다.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